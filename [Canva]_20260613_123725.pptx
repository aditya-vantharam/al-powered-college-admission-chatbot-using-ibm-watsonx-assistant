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34436" y="1725746"/>
            <a:ext cx="9723126" cy="1938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5462" y="286058"/>
            <a:ext cx="4623117" cy="8601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1584" y="2590798"/>
            <a:ext cx="9484360" cy="2166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Adityavantharam999@gmail.com" TargetMode="External"/><Relationship Id="rId3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aditya-vantharam/Al-Powered-College-" TargetMode="Externa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0" rIns="0" bIns="0" rtlCol="0" vert="horz">
            <a:spAutoFit/>
          </a:bodyPr>
          <a:lstStyle/>
          <a:p>
            <a:pPr marL="1545590" marR="5080" indent="-1533525">
              <a:lnSpc>
                <a:spcPts val="7130"/>
              </a:lnSpc>
              <a:spcBef>
                <a:spcPts val="1000"/>
              </a:spcBef>
            </a:pPr>
            <a:r>
              <a:rPr dirty="0" sz="6600">
                <a:latin typeface="Calibri"/>
                <a:cs typeface="Calibri"/>
              </a:rPr>
              <a:t>IBM</a:t>
            </a:r>
            <a:r>
              <a:rPr dirty="0" sz="6600" spc="-90">
                <a:latin typeface="Calibri"/>
                <a:cs typeface="Calibri"/>
              </a:rPr>
              <a:t> </a:t>
            </a:r>
            <a:r>
              <a:rPr dirty="0" sz="6600">
                <a:latin typeface="Calibri"/>
                <a:cs typeface="Calibri"/>
              </a:rPr>
              <a:t>University</a:t>
            </a:r>
            <a:r>
              <a:rPr dirty="0" sz="6600" spc="-75">
                <a:latin typeface="Calibri"/>
                <a:cs typeface="Calibri"/>
              </a:rPr>
              <a:t> </a:t>
            </a:r>
            <a:r>
              <a:rPr dirty="0" sz="6600" spc="-10">
                <a:latin typeface="Calibri"/>
                <a:cs typeface="Calibri"/>
              </a:rPr>
              <a:t>Engagement </a:t>
            </a:r>
            <a:r>
              <a:rPr dirty="0" sz="6600">
                <a:latin typeface="Calibri"/>
                <a:cs typeface="Calibri"/>
              </a:rPr>
              <a:t>Project</a:t>
            </a:r>
            <a:r>
              <a:rPr dirty="0" sz="6600" spc="-75">
                <a:latin typeface="Calibri"/>
                <a:cs typeface="Calibri"/>
              </a:rPr>
              <a:t> </a:t>
            </a:r>
            <a:r>
              <a:rPr dirty="0" sz="6600" spc="-10">
                <a:latin typeface="Calibri"/>
                <a:cs typeface="Calibri"/>
              </a:rPr>
              <a:t>Submission</a:t>
            </a:r>
            <a:endParaRPr sz="6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88771" y="4003093"/>
            <a:ext cx="861822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878787"/>
                </a:solidFill>
                <a:latin typeface="Calibri"/>
                <a:cs typeface="Calibri"/>
              </a:rPr>
              <a:t>“Exploring</a:t>
            </a:r>
            <a:r>
              <a:rPr dirty="0" sz="2400" spc="-40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78787"/>
                </a:solidFill>
                <a:latin typeface="Calibri"/>
                <a:cs typeface="Calibri"/>
              </a:rPr>
              <a:t>the</a:t>
            </a:r>
            <a:r>
              <a:rPr dirty="0" sz="2400" spc="-35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78787"/>
                </a:solidFill>
                <a:latin typeface="Calibri"/>
                <a:cs typeface="Calibri"/>
              </a:rPr>
              <a:t>Power</a:t>
            </a:r>
            <a:r>
              <a:rPr dirty="0" sz="2400" spc="-35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78787"/>
                </a:solidFill>
                <a:latin typeface="Calibri"/>
                <a:cs typeface="Calibri"/>
              </a:rPr>
              <a:t>of</a:t>
            </a:r>
            <a:r>
              <a:rPr dirty="0" sz="2400" spc="-35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78787"/>
                </a:solidFill>
                <a:latin typeface="Calibri"/>
                <a:cs typeface="Calibri"/>
              </a:rPr>
              <a:t>Agentic</a:t>
            </a:r>
            <a:r>
              <a:rPr dirty="0" sz="2400" spc="-35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78787"/>
                </a:solidFill>
                <a:latin typeface="Calibri"/>
                <a:cs typeface="Calibri"/>
              </a:rPr>
              <a:t>AI</a:t>
            </a:r>
            <a:r>
              <a:rPr dirty="0" sz="2400" spc="-30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78787"/>
                </a:solidFill>
                <a:latin typeface="Calibri"/>
                <a:cs typeface="Calibri"/>
              </a:rPr>
              <a:t>with</a:t>
            </a:r>
            <a:r>
              <a:rPr dirty="0" sz="2400" spc="-35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78787"/>
                </a:solidFill>
                <a:latin typeface="Calibri"/>
                <a:cs typeface="Calibri"/>
              </a:rPr>
              <a:t>IBM</a:t>
            </a:r>
            <a:r>
              <a:rPr dirty="0" sz="2400" spc="-35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78787"/>
                </a:solidFill>
                <a:latin typeface="Calibri"/>
                <a:cs typeface="Calibri"/>
              </a:rPr>
              <a:t>Granite</a:t>
            </a:r>
            <a:r>
              <a:rPr dirty="0" sz="2400" spc="-35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878787"/>
                </a:solidFill>
                <a:latin typeface="Calibri"/>
                <a:cs typeface="Calibri"/>
              </a:rPr>
              <a:t>and</a:t>
            </a:r>
            <a:r>
              <a:rPr dirty="0" sz="2400" spc="-35" b="1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z="2400" spc="-10" b="1" i="1">
                <a:solidFill>
                  <a:srgbClr val="878787"/>
                </a:solidFill>
                <a:latin typeface="Calibri"/>
                <a:cs typeface="Calibri"/>
              </a:rPr>
              <a:t>LangFlow”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289684" y="2590798"/>
          <a:ext cx="9484360" cy="2166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5020"/>
                <a:gridCol w="2443480"/>
                <a:gridCol w="2443479"/>
                <a:gridCol w="2443479"/>
              </a:tblGrid>
              <a:tr h="9759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 marL="1079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Student</a:t>
                      </a:r>
                      <a:r>
                        <a:rPr dirty="0" sz="18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20">
                          <a:latin typeface="Arial MT"/>
                          <a:cs typeface="Arial MT"/>
                        </a:rPr>
                        <a:t>Name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749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5"/>
                    </a:solidFill>
                  </a:tcPr>
                </a:tc>
                <a:tc>
                  <a:txBody>
                    <a:bodyPr/>
                    <a:lstStyle/>
                    <a:p>
                      <a:pPr marL="929640" marR="360680" indent="-546735">
                        <a:lnSpc>
                          <a:spcPct val="100800"/>
                        </a:lnSpc>
                        <a:spcBef>
                          <a:spcPts val="1565"/>
                        </a:spcBef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Recent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Passport </a:t>
                      </a:r>
                      <a:r>
                        <a:rPr dirty="0" sz="1800">
                          <a:latin typeface="Arial MT"/>
                          <a:cs typeface="Arial MT"/>
                        </a:rPr>
                        <a:t>Pho</a:t>
                      </a:r>
                      <a:r>
                        <a:rPr dirty="0" sz="18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to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1987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 marL="1841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Email </a:t>
                      </a:r>
                      <a:r>
                        <a:rPr dirty="0" sz="1800" spc="-25">
                          <a:latin typeface="Arial MT"/>
                          <a:cs typeface="Arial MT"/>
                        </a:rPr>
                        <a:t>ID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749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5"/>
                    </a:solidFill>
                  </a:tcPr>
                </a:tc>
                <a:tc>
                  <a:txBody>
                    <a:bodyPr/>
                    <a:lstStyle/>
                    <a:p>
                      <a:pPr marL="640715" marR="446405" indent="-165100">
                        <a:lnSpc>
                          <a:spcPct val="100800"/>
                        </a:lnSpc>
                        <a:spcBef>
                          <a:spcPts val="1565"/>
                        </a:spcBef>
                      </a:pPr>
                      <a:r>
                        <a:rPr dirty="0" sz="1800">
                          <a:latin typeface="Arial MT"/>
                          <a:cs typeface="Arial MT"/>
                        </a:rPr>
                        <a:t>Mobile</a:t>
                      </a:r>
                      <a:r>
                        <a:rPr dirty="0" sz="18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800" spc="-10">
                          <a:latin typeface="Arial MT"/>
                          <a:cs typeface="Arial MT"/>
                        </a:rPr>
                        <a:t>number [WhatsApp]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B="0" marT="1987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AD5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algn="ctr" marR="21590">
                        <a:lnSpc>
                          <a:spcPct val="100000"/>
                        </a:lnSpc>
                        <a:spcBef>
                          <a:spcPts val="2690"/>
                        </a:spcBef>
                      </a:pPr>
                      <a:r>
                        <a:rPr dirty="0" sz="2600" spc="-10" b="1">
                          <a:latin typeface="Times New Roman"/>
                          <a:cs typeface="Times New Roman"/>
                        </a:rPr>
                        <a:t>V.Aditya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16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10">
                          <a:latin typeface="Arial MT"/>
                          <a:cs typeface="Arial MT"/>
                          <a:hlinkClick r:id="rId2"/>
                        </a:rPr>
                        <a:t>Adityavantharam999@gmail.com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10">
                          <a:latin typeface="Arial MT"/>
                          <a:cs typeface="Arial MT"/>
                        </a:rPr>
                        <a:t>7416784935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18586" y="3620442"/>
            <a:ext cx="1035423" cy="11001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85871" y="1484169"/>
            <a:ext cx="299085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Domain</a:t>
            </a:r>
            <a:r>
              <a:rPr dirty="0" sz="2400" spc="-6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of</a:t>
            </a:r>
            <a:r>
              <a:rPr dirty="0" sz="2400" spc="-6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Project</a:t>
            </a:r>
            <a:r>
              <a:rPr dirty="0" sz="2400" spc="-60" b="1">
                <a:latin typeface="Arial"/>
                <a:cs typeface="Arial"/>
              </a:rPr>
              <a:t> </a:t>
            </a:r>
            <a:r>
              <a:rPr dirty="0" sz="2400" spc="-25" b="1">
                <a:latin typeface="Arial"/>
                <a:cs typeface="Arial"/>
              </a:rPr>
              <a:t>–</a:t>
            </a:r>
            <a:r>
              <a:rPr dirty="0" sz="2400" spc="-50" b="1">
                <a:latin typeface="Arial"/>
                <a:cs typeface="Arial"/>
              </a:rPr>
              <a:t>[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24921" y="1510383"/>
            <a:ext cx="7178040" cy="35814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23495">
              <a:lnSpc>
                <a:spcPts val="2775"/>
              </a:lnSpc>
            </a:pPr>
            <a:r>
              <a:rPr dirty="0" sz="2400" b="1">
                <a:latin typeface="Arial"/>
                <a:cs typeface="Arial"/>
              </a:rPr>
              <a:t>Education</a:t>
            </a:r>
            <a:r>
              <a:rPr dirty="0" sz="2400" spc="585" b="1">
                <a:latin typeface="Arial"/>
                <a:cs typeface="Arial"/>
              </a:rPr>
              <a:t> </a:t>
            </a:r>
            <a:r>
              <a:rPr dirty="0" sz="2400" spc="-50" b="1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207581" y="598725"/>
            <a:ext cx="2080260" cy="4216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/>
              <a:t>Project</a:t>
            </a:r>
            <a:r>
              <a:rPr dirty="0" sz="2600" spc="-75"/>
              <a:t> </a:t>
            </a:r>
            <a:r>
              <a:rPr dirty="0" sz="2600"/>
              <a:t>Tile</a:t>
            </a:r>
            <a:r>
              <a:rPr dirty="0" sz="2600" spc="-75"/>
              <a:t> </a:t>
            </a:r>
            <a:r>
              <a:rPr dirty="0" sz="2600" spc="-50"/>
              <a:t>–</a:t>
            </a:r>
            <a:endParaRPr sz="2600"/>
          </a:p>
        </p:txBody>
      </p:sp>
      <p:sp>
        <p:nvSpPr>
          <p:cNvPr id="7" name="object 7"/>
          <p:cNvSpPr txBox="1"/>
          <p:nvPr/>
        </p:nvSpPr>
        <p:spPr>
          <a:xfrm>
            <a:off x="3275647" y="509246"/>
            <a:ext cx="8813165" cy="81851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157480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1240"/>
              </a:spcBef>
            </a:pPr>
            <a:r>
              <a:rPr dirty="0" sz="2200" spc="-10" b="1">
                <a:latin typeface="Times New Roman"/>
                <a:cs typeface="Times New Roman"/>
              </a:rPr>
              <a:t>Al-</a:t>
            </a:r>
            <a:r>
              <a:rPr dirty="0" sz="2200" b="1">
                <a:latin typeface="Times New Roman"/>
                <a:cs typeface="Times New Roman"/>
              </a:rPr>
              <a:t>Powered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College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Admission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Chatbot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Using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IBM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watsonx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Assistant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73099" y="-33972"/>
            <a:ext cx="2990850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105"/>
              <a:t> </a:t>
            </a:r>
            <a:r>
              <a:rPr dirty="0"/>
              <a:t>Statement</a:t>
            </a:r>
            <a:r>
              <a:rPr dirty="0" spc="-110"/>
              <a:t> </a:t>
            </a:r>
            <a:r>
              <a:rPr dirty="0" spc="-50"/>
              <a:t>-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724" y="3369732"/>
            <a:ext cx="76200" cy="761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724" y="3674532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724" y="3979332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724" y="4284132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724" y="4588932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724" y="4893732"/>
            <a:ext cx="76200" cy="76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724" y="5198532"/>
            <a:ext cx="76200" cy="76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724" y="5503332"/>
            <a:ext cx="76200" cy="761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73099" y="582029"/>
            <a:ext cx="11396980" cy="60077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90">
                <a:latin typeface="Arial Black"/>
                <a:cs typeface="Arial Black"/>
              </a:rPr>
              <a:t>Problem</a:t>
            </a:r>
            <a:r>
              <a:rPr dirty="0" sz="1850" spc="-135">
                <a:latin typeface="Arial Black"/>
                <a:cs typeface="Arial Black"/>
              </a:rPr>
              <a:t> </a:t>
            </a:r>
            <a:r>
              <a:rPr dirty="0" sz="1850" spc="-125">
                <a:latin typeface="Arial Black"/>
                <a:cs typeface="Arial Black"/>
              </a:rPr>
              <a:t>Statement</a:t>
            </a:r>
            <a:r>
              <a:rPr dirty="0" sz="1850" spc="-135">
                <a:latin typeface="Arial Black"/>
                <a:cs typeface="Arial Black"/>
              </a:rPr>
              <a:t> </a:t>
            </a:r>
            <a:r>
              <a:rPr dirty="0" sz="1850" spc="-110">
                <a:latin typeface="Arial Black"/>
                <a:cs typeface="Arial Black"/>
              </a:rPr>
              <a:t>:</a:t>
            </a:r>
            <a:r>
              <a:rPr dirty="0" sz="1850" spc="-135">
                <a:latin typeface="Arial Black"/>
                <a:cs typeface="Arial Black"/>
              </a:rPr>
              <a:t> </a:t>
            </a:r>
            <a:r>
              <a:rPr dirty="0" sz="1850" spc="-125">
                <a:latin typeface="Arial Black"/>
                <a:cs typeface="Arial Black"/>
              </a:rPr>
              <a:t>College</a:t>
            </a:r>
            <a:r>
              <a:rPr dirty="0" sz="1850" spc="-135">
                <a:latin typeface="Arial Black"/>
                <a:cs typeface="Arial Black"/>
              </a:rPr>
              <a:t> </a:t>
            </a:r>
            <a:r>
              <a:rPr dirty="0" sz="1850" spc="-125">
                <a:latin typeface="Arial Black"/>
                <a:cs typeface="Arial Black"/>
              </a:rPr>
              <a:t>Admission</a:t>
            </a:r>
            <a:r>
              <a:rPr dirty="0" sz="1850" spc="-130">
                <a:latin typeface="Arial Black"/>
                <a:cs typeface="Arial Black"/>
              </a:rPr>
              <a:t> </a:t>
            </a:r>
            <a:r>
              <a:rPr dirty="0" sz="1850" spc="-10">
                <a:latin typeface="Arial Black"/>
                <a:cs typeface="Arial Black"/>
              </a:rPr>
              <a:t>Chatbot</a:t>
            </a:r>
            <a:endParaRPr sz="185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50" spc="-140">
                <a:latin typeface="Arial Black"/>
                <a:cs typeface="Arial Black"/>
              </a:rPr>
              <a:t>The </a:t>
            </a:r>
            <a:r>
              <a:rPr dirty="0" sz="1650" spc="-10">
                <a:latin typeface="Arial Black"/>
                <a:cs typeface="Arial Black"/>
              </a:rPr>
              <a:t>Challenge</a:t>
            </a:r>
            <a:endParaRPr sz="1650">
              <a:latin typeface="Arial Black"/>
              <a:cs typeface="Arial Black"/>
            </a:endParaRPr>
          </a:p>
          <a:p>
            <a:pPr marL="12700" marR="5080">
              <a:lnSpc>
                <a:spcPct val="117400"/>
              </a:lnSpc>
            </a:pPr>
            <a:r>
              <a:rPr dirty="0" sz="1650" spc="-85">
                <a:latin typeface="Arial Black"/>
                <a:cs typeface="Arial Black"/>
              </a:rPr>
              <a:t>Students</a:t>
            </a:r>
            <a:r>
              <a:rPr dirty="0" sz="1650" spc="-55">
                <a:latin typeface="Arial Black"/>
                <a:cs typeface="Arial Black"/>
              </a:rPr>
              <a:t> </a:t>
            </a:r>
            <a:r>
              <a:rPr dirty="0" sz="1650" spc="-20">
                <a:latin typeface="Arial Black"/>
                <a:cs typeface="Arial Black"/>
              </a:rPr>
              <a:t>often</a:t>
            </a:r>
            <a:r>
              <a:rPr dirty="0" sz="1650" spc="-30">
                <a:latin typeface="Arial Black"/>
                <a:cs typeface="Arial Black"/>
              </a:rPr>
              <a:t> </a:t>
            </a:r>
            <a:r>
              <a:rPr dirty="0" sz="1650" spc="-80">
                <a:latin typeface="Arial Black"/>
                <a:cs typeface="Arial Black"/>
              </a:rPr>
              <a:t>face</a:t>
            </a:r>
            <a:r>
              <a:rPr dirty="0" sz="1650" spc="-35">
                <a:latin typeface="Arial Black"/>
                <a:cs typeface="Arial Black"/>
              </a:rPr>
              <a:t> </a:t>
            </a:r>
            <a:r>
              <a:rPr dirty="0" sz="1650" spc="-40">
                <a:latin typeface="Arial Black"/>
                <a:cs typeface="Arial Black"/>
              </a:rPr>
              <a:t>difficulty</a:t>
            </a:r>
            <a:r>
              <a:rPr dirty="0" sz="1650" spc="-35">
                <a:latin typeface="Arial Black"/>
                <a:cs typeface="Arial Black"/>
              </a:rPr>
              <a:t> </a:t>
            </a:r>
            <a:r>
              <a:rPr dirty="0" sz="1650" spc="-40">
                <a:latin typeface="Arial Black"/>
                <a:cs typeface="Arial Black"/>
              </a:rPr>
              <a:t>finding</a:t>
            </a:r>
            <a:r>
              <a:rPr dirty="0" sz="1650" spc="-30">
                <a:latin typeface="Arial Black"/>
                <a:cs typeface="Arial Black"/>
              </a:rPr>
              <a:t> </a:t>
            </a:r>
            <a:r>
              <a:rPr dirty="0" sz="1650" spc="-110">
                <a:latin typeface="Arial Black"/>
                <a:cs typeface="Arial Black"/>
              </a:rPr>
              <a:t>accurate</a:t>
            </a:r>
            <a:r>
              <a:rPr dirty="0" sz="1650" spc="-30">
                <a:latin typeface="Arial Black"/>
                <a:cs typeface="Arial Black"/>
              </a:rPr>
              <a:t> </a:t>
            </a:r>
            <a:r>
              <a:rPr dirty="0" sz="1650" spc="-55">
                <a:latin typeface="Arial Black"/>
                <a:cs typeface="Arial Black"/>
              </a:rPr>
              <a:t>information</a:t>
            </a:r>
            <a:r>
              <a:rPr dirty="0" sz="1650" spc="-30">
                <a:latin typeface="Arial Black"/>
                <a:cs typeface="Arial Black"/>
              </a:rPr>
              <a:t> </a:t>
            </a:r>
            <a:r>
              <a:rPr dirty="0" sz="1650" spc="-35">
                <a:latin typeface="Arial Black"/>
                <a:cs typeface="Arial Black"/>
              </a:rPr>
              <a:t>about </a:t>
            </a:r>
            <a:r>
              <a:rPr dirty="0" sz="1650" spc="-110">
                <a:latin typeface="Arial Black"/>
                <a:cs typeface="Arial Black"/>
              </a:rPr>
              <a:t>admissions,</a:t>
            </a:r>
            <a:r>
              <a:rPr dirty="0" sz="1650" spc="-30">
                <a:latin typeface="Arial Black"/>
                <a:cs typeface="Arial Black"/>
              </a:rPr>
              <a:t> </a:t>
            </a:r>
            <a:r>
              <a:rPr dirty="0" sz="1650" spc="-110">
                <a:latin typeface="Arial Black"/>
                <a:cs typeface="Arial Black"/>
              </a:rPr>
              <a:t>courses,</a:t>
            </a:r>
            <a:r>
              <a:rPr dirty="0" sz="1650" spc="-25">
                <a:latin typeface="Arial Black"/>
                <a:cs typeface="Arial Black"/>
              </a:rPr>
              <a:t> </a:t>
            </a:r>
            <a:r>
              <a:rPr dirty="0" sz="1650" spc="-65">
                <a:latin typeface="Arial Black"/>
                <a:cs typeface="Arial Black"/>
              </a:rPr>
              <a:t>eligibility,</a:t>
            </a:r>
            <a:r>
              <a:rPr dirty="0" sz="1650" spc="-35">
                <a:latin typeface="Arial Black"/>
                <a:cs typeface="Arial Black"/>
              </a:rPr>
              <a:t> </a:t>
            </a:r>
            <a:r>
              <a:rPr dirty="0" sz="1650" spc="-85">
                <a:latin typeface="Arial Black"/>
                <a:cs typeface="Arial Black"/>
              </a:rPr>
              <a:t>fees,</a:t>
            </a:r>
            <a:r>
              <a:rPr dirty="0" sz="1650" spc="-30">
                <a:latin typeface="Arial Black"/>
                <a:cs typeface="Arial Black"/>
              </a:rPr>
              <a:t> </a:t>
            </a:r>
            <a:r>
              <a:rPr dirty="0" sz="1650" spc="-25">
                <a:latin typeface="Arial Black"/>
                <a:cs typeface="Arial Black"/>
              </a:rPr>
              <a:t>and </a:t>
            </a:r>
            <a:r>
              <a:rPr dirty="0" sz="1650" spc="-75">
                <a:latin typeface="Arial Black"/>
                <a:cs typeface="Arial Black"/>
              </a:rPr>
              <a:t>important</a:t>
            </a:r>
            <a:r>
              <a:rPr dirty="0" sz="1650" spc="-114">
                <a:latin typeface="Arial Black"/>
                <a:cs typeface="Arial Black"/>
              </a:rPr>
              <a:t> </a:t>
            </a:r>
            <a:r>
              <a:rPr dirty="0" sz="1650" spc="-10">
                <a:latin typeface="Arial Black"/>
                <a:cs typeface="Arial Black"/>
              </a:rPr>
              <a:t>dates.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300"/>
              </a:spcBef>
            </a:pPr>
            <a:r>
              <a:rPr dirty="0" sz="1750" spc="-145">
                <a:latin typeface="Arial Black"/>
                <a:cs typeface="Arial Black"/>
              </a:rPr>
              <a:t>The</a:t>
            </a:r>
            <a:r>
              <a:rPr dirty="0" sz="1750" spc="-170">
                <a:latin typeface="Arial Black"/>
                <a:cs typeface="Arial Black"/>
              </a:rPr>
              <a:t> </a:t>
            </a:r>
            <a:r>
              <a:rPr dirty="0" sz="1750" spc="-10">
                <a:latin typeface="Arial Black"/>
                <a:cs typeface="Arial Black"/>
              </a:rPr>
              <a:t>Objective</a:t>
            </a:r>
            <a:endParaRPr sz="1750">
              <a:latin typeface="Arial Black"/>
              <a:cs typeface="Arial Black"/>
            </a:endParaRPr>
          </a:p>
          <a:p>
            <a:pPr marL="12700" marR="838200">
              <a:lnSpc>
                <a:spcPct val="114300"/>
              </a:lnSpc>
            </a:pPr>
            <a:r>
              <a:rPr dirty="0" sz="1750" spc="-85">
                <a:latin typeface="Arial Black"/>
                <a:cs typeface="Arial Black"/>
              </a:rPr>
              <a:t>Build</a:t>
            </a:r>
            <a:r>
              <a:rPr dirty="0" sz="1750" spc="-120">
                <a:latin typeface="Arial Black"/>
                <a:cs typeface="Arial Black"/>
              </a:rPr>
              <a:t> </a:t>
            </a:r>
            <a:r>
              <a:rPr dirty="0" sz="1750" spc="-125">
                <a:latin typeface="Arial Black"/>
                <a:cs typeface="Arial Black"/>
              </a:rPr>
              <a:t>an</a:t>
            </a:r>
            <a:r>
              <a:rPr dirty="0" sz="1750" spc="-114">
                <a:latin typeface="Arial Black"/>
                <a:cs typeface="Arial Black"/>
              </a:rPr>
              <a:t> </a:t>
            </a:r>
            <a:r>
              <a:rPr dirty="0" sz="1750" spc="-65">
                <a:latin typeface="Arial Black"/>
                <a:cs typeface="Arial Black"/>
              </a:rPr>
              <a:t>AI-</a:t>
            </a:r>
            <a:r>
              <a:rPr dirty="0" sz="1750" spc="-130">
                <a:latin typeface="Arial Black"/>
                <a:cs typeface="Arial Black"/>
              </a:rPr>
              <a:t>Powered</a:t>
            </a:r>
            <a:r>
              <a:rPr dirty="0" sz="1750" spc="-120">
                <a:latin typeface="Arial Black"/>
                <a:cs typeface="Arial Black"/>
              </a:rPr>
              <a:t> College</a:t>
            </a:r>
            <a:r>
              <a:rPr dirty="0" sz="1750" spc="-114">
                <a:latin typeface="Arial Black"/>
                <a:cs typeface="Arial Black"/>
              </a:rPr>
              <a:t> </a:t>
            </a:r>
            <a:r>
              <a:rPr dirty="0" sz="1750" spc="-125">
                <a:latin typeface="Arial Black"/>
                <a:cs typeface="Arial Black"/>
              </a:rPr>
              <a:t>Admission</a:t>
            </a:r>
            <a:r>
              <a:rPr dirty="0" sz="1750" spc="-114">
                <a:latin typeface="Arial Black"/>
                <a:cs typeface="Arial Black"/>
              </a:rPr>
              <a:t> </a:t>
            </a:r>
            <a:r>
              <a:rPr dirty="0" sz="1750" spc="-95">
                <a:latin typeface="Arial Black"/>
                <a:cs typeface="Arial Black"/>
              </a:rPr>
              <a:t>Chatbot</a:t>
            </a:r>
            <a:r>
              <a:rPr dirty="0" sz="1750" spc="-120">
                <a:latin typeface="Arial Black"/>
                <a:cs typeface="Arial Black"/>
              </a:rPr>
              <a:t> </a:t>
            </a:r>
            <a:r>
              <a:rPr dirty="0" sz="1750" spc="-95">
                <a:latin typeface="Arial Black"/>
                <a:cs typeface="Arial Black"/>
              </a:rPr>
              <a:t>that</a:t>
            </a:r>
            <a:r>
              <a:rPr dirty="0" sz="1750" spc="-114">
                <a:latin typeface="Arial Black"/>
                <a:cs typeface="Arial Black"/>
              </a:rPr>
              <a:t> </a:t>
            </a:r>
            <a:r>
              <a:rPr dirty="0" sz="1750" spc="-95">
                <a:latin typeface="Arial Black"/>
                <a:cs typeface="Arial Black"/>
              </a:rPr>
              <a:t>provides</a:t>
            </a:r>
            <a:r>
              <a:rPr dirty="0" sz="1750" spc="-114">
                <a:latin typeface="Arial Black"/>
                <a:cs typeface="Arial Black"/>
              </a:rPr>
              <a:t> </a:t>
            </a:r>
            <a:r>
              <a:rPr dirty="0" sz="1750" spc="-110">
                <a:latin typeface="Arial Black"/>
                <a:cs typeface="Arial Black"/>
              </a:rPr>
              <a:t>instant</a:t>
            </a:r>
            <a:r>
              <a:rPr dirty="0" sz="1750" spc="-120">
                <a:latin typeface="Arial Black"/>
                <a:cs typeface="Arial Black"/>
              </a:rPr>
              <a:t> </a:t>
            </a:r>
            <a:r>
              <a:rPr dirty="0" sz="1750" spc="-135">
                <a:latin typeface="Arial Black"/>
                <a:cs typeface="Arial Black"/>
              </a:rPr>
              <a:t>responses</a:t>
            </a:r>
            <a:r>
              <a:rPr dirty="0" sz="1750" spc="-114">
                <a:latin typeface="Arial Black"/>
                <a:cs typeface="Arial Black"/>
              </a:rPr>
              <a:t> </a:t>
            </a:r>
            <a:r>
              <a:rPr dirty="0" sz="1750" spc="-100">
                <a:latin typeface="Arial Black"/>
                <a:cs typeface="Arial Black"/>
              </a:rPr>
              <a:t>and</a:t>
            </a:r>
            <a:r>
              <a:rPr dirty="0" sz="1750" spc="-114">
                <a:latin typeface="Arial Black"/>
                <a:cs typeface="Arial Black"/>
              </a:rPr>
              <a:t> </a:t>
            </a:r>
            <a:r>
              <a:rPr dirty="0" sz="1750" spc="-130">
                <a:latin typeface="Arial Black"/>
                <a:cs typeface="Arial Black"/>
              </a:rPr>
              <a:t>guidance</a:t>
            </a:r>
            <a:r>
              <a:rPr dirty="0" sz="1750" spc="-120">
                <a:latin typeface="Arial Black"/>
                <a:cs typeface="Arial Black"/>
              </a:rPr>
              <a:t> </a:t>
            </a:r>
            <a:r>
              <a:rPr dirty="0" sz="1750" spc="-25">
                <a:latin typeface="Arial Black"/>
                <a:cs typeface="Arial Black"/>
              </a:rPr>
              <a:t>to </a:t>
            </a:r>
            <a:r>
              <a:rPr dirty="0" sz="1750" spc="-110">
                <a:latin typeface="Arial Black"/>
                <a:cs typeface="Arial Black"/>
              </a:rPr>
              <a:t>students</a:t>
            </a:r>
            <a:r>
              <a:rPr dirty="0" sz="1750" spc="-135">
                <a:latin typeface="Arial Black"/>
                <a:cs typeface="Arial Black"/>
              </a:rPr>
              <a:t> </a:t>
            </a:r>
            <a:r>
              <a:rPr dirty="0" sz="1750" spc="-90">
                <a:latin typeface="Arial Black"/>
                <a:cs typeface="Arial Black"/>
              </a:rPr>
              <a:t>during</a:t>
            </a:r>
            <a:r>
              <a:rPr dirty="0" sz="1750" spc="-130">
                <a:latin typeface="Arial Black"/>
                <a:cs typeface="Arial Black"/>
              </a:rPr>
              <a:t> </a:t>
            </a:r>
            <a:r>
              <a:rPr dirty="0" sz="1750" spc="-90">
                <a:latin typeface="Arial Black"/>
                <a:cs typeface="Arial Black"/>
              </a:rPr>
              <a:t>the</a:t>
            </a:r>
            <a:r>
              <a:rPr dirty="0" sz="1750" spc="-130">
                <a:latin typeface="Arial Black"/>
                <a:cs typeface="Arial Black"/>
              </a:rPr>
              <a:t> </a:t>
            </a:r>
            <a:r>
              <a:rPr dirty="0" sz="1750" spc="-125">
                <a:latin typeface="Arial Black"/>
                <a:cs typeface="Arial Black"/>
              </a:rPr>
              <a:t>admission</a:t>
            </a:r>
            <a:r>
              <a:rPr dirty="0" sz="1750" spc="-135">
                <a:latin typeface="Arial Black"/>
                <a:cs typeface="Arial Black"/>
              </a:rPr>
              <a:t> </a:t>
            </a:r>
            <a:r>
              <a:rPr dirty="0" sz="1750" spc="-10">
                <a:latin typeface="Arial Black"/>
                <a:cs typeface="Arial Black"/>
              </a:rPr>
              <a:t>process.</a:t>
            </a:r>
            <a:endParaRPr sz="1750">
              <a:latin typeface="Arial Black"/>
              <a:cs typeface="Arial Black"/>
            </a:endParaRPr>
          </a:p>
          <a:p>
            <a:pPr marL="391795">
              <a:lnSpc>
                <a:spcPct val="100000"/>
              </a:lnSpc>
              <a:spcBef>
                <a:spcPts val="300"/>
              </a:spcBef>
            </a:pPr>
            <a:r>
              <a:rPr dirty="0" sz="1750" spc="-10">
                <a:latin typeface="Arial Black"/>
                <a:cs typeface="Arial Black"/>
              </a:rPr>
              <a:t>Features</a:t>
            </a:r>
            <a:endParaRPr sz="1750">
              <a:latin typeface="Arial Black"/>
              <a:cs typeface="Arial Black"/>
            </a:endParaRPr>
          </a:p>
          <a:p>
            <a:pPr marL="391795" marR="8716645">
              <a:lnSpc>
                <a:spcPct val="114300"/>
              </a:lnSpc>
            </a:pPr>
            <a:r>
              <a:rPr dirty="0" sz="1750" spc="-120">
                <a:latin typeface="Arial Black"/>
                <a:cs typeface="Arial Black"/>
              </a:rPr>
              <a:t>Course</a:t>
            </a:r>
            <a:r>
              <a:rPr dirty="0" sz="1750" spc="-135">
                <a:latin typeface="Arial Black"/>
                <a:cs typeface="Arial Black"/>
              </a:rPr>
              <a:t> </a:t>
            </a:r>
            <a:r>
              <a:rPr dirty="0" sz="1750" spc="-10">
                <a:latin typeface="Arial Black"/>
                <a:cs typeface="Arial Black"/>
              </a:rPr>
              <a:t>Information </a:t>
            </a:r>
            <a:r>
              <a:rPr dirty="0" sz="1750" spc="-100">
                <a:latin typeface="Arial Black"/>
                <a:cs typeface="Arial Black"/>
              </a:rPr>
              <a:t>Eligibility</a:t>
            </a:r>
            <a:r>
              <a:rPr dirty="0" sz="1750" spc="-65">
                <a:latin typeface="Arial Black"/>
                <a:cs typeface="Arial Black"/>
              </a:rPr>
              <a:t> </a:t>
            </a:r>
            <a:r>
              <a:rPr dirty="0" sz="1750" spc="-10">
                <a:latin typeface="Arial Black"/>
                <a:cs typeface="Arial Black"/>
              </a:rPr>
              <a:t>Guidance </a:t>
            </a:r>
            <a:r>
              <a:rPr dirty="0" sz="1750" spc="-155">
                <a:latin typeface="Arial Black"/>
                <a:cs typeface="Arial Black"/>
              </a:rPr>
              <a:t>Fee</a:t>
            </a:r>
            <a:r>
              <a:rPr dirty="0" sz="1750" spc="-150">
                <a:latin typeface="Arial Black"/>
                <a:cs typeface="Arial Black"/>
              </a:rPr>
              <a:t> </a:t>
            </a:r>
            <a:r>
              <a:rPr dirty="0" sz="1750" spc="-10">
                <a:latin typeface="Arial Black"/>
                <a:cs typeface="Arial Black"/>
              </a:rPr>
              <a:t>Details </a:t>
            </a:r>
            <a:r>
              <a:rPr dirty="0" sz="1750" spc="-125">
                <a:latin typeface="Arial Black"/>
                <a:cs typeface="Arial Black"/>
              </a:rPr>
              <a:t>Admission</a:t>
            </a:r>
            <a:r>
              <a:rPr dirty="0" sz="1750" spc="-95">
                <a:latin typeface="Arial Black"/>
                <a:cs typeface="Arial Black"/>
              </a:rPr>
              <a:t> Deadlines</a:t>
            </a:r>
            <a:endParaRPr sz="1750">
              <a:latin typeface="Arial Black"/>
              <a:cs typeface="Arial Black"/>
            </a:endParaRPr>
          </a:p>
          <a:p>
            <a:pPr marL="391795" marR="8261350">
              <a:lnSpc>
                <a:spcPct val="114300"/>
              </a:lnSpc>
            </a:pPr>
            <a:r>
              <a:rPr dirty="0" sz="1750" spc="-105">
                <a:latin typeface="Arial Black"/>
                <a:cs typeface="Arial Black"/>
              </a:rPr>
              <a:t>Document</a:t>
            </a:r>
            <a:r>
              <a:rPr dirty="0" sz="1750" spc="-100">
                <a:latin typeface="Arial Black"/>
                <a:cs typeface="Arial Black"/>
              </a:rPr>
              <a:t> </a:t>
            </a:r>
            <a:r>
              <a:rPr dirty="0" sz="1750" spc="-105">
                <a:latin typeface="Arial Black"/>
                <a:cs typeface="Arial Black"/>
              </a:rPr>
              <a:t>Requirements </a:t>
            </a:r>
            <a:r>
              <a:rPr dirty="0" sz="1750" spc="-145">
                <a:latin typeface="Arial Black"/>
                <a:cs typeface="Arial Black"/>
              </a:rPr>
              <a:t>FAQ</a:t>
            </a:r>
            <a:r>
              <a:rPr dirty="0" sz="1750" spc="-150">
                <a:latin typeface="Arial Black"/>
                <a:cs typeface="Arial Black"/>
              </a:rPr>
              <a:t> </a:t>
            </a:r>
            <a:r>
              <a:rPr dirty="0" sz="1750" spc="-10">
                <a:latin typeface="Arial Black"/>
                <a:cs typeface="Arial Black"/>
              </a:rPr>
              <a:t>Support</a:t>
            </a:r>
            <a:endParaRPr sz="1750">
              <a:latin typeface="Arial Black"/>
              <a:cs typeface="Arial Black"/>
            </a:endParaRPr>
          </a:p>
          <a:p>
            <a:pPr marL="391795">
              <a:lnSpc>
                <a:spcPct val="100000"/>
              </a:lnSpc>
              <a:spcBef>
                <a:spcPts val="300"/>
              </a:spcBef>
            </a:pPr>
            <a:r>
              <a:rPr dirty="0" sz="1750" spc="-85">
                <a:latin typeface="Arial Black"/>
                <a:cs typeface="Arial Black"/>
              </a:rPr>
              <a:t>24/7</a:t>
            </a:r>
            <a:r>
              <a:rPr dirty="0" sz="1750" spc="-135">
                <a:latin typeface="Arial Black"/>
                <a:cs typeface="Arial Black"/>
              </a:rPr>
              <a:t> </a:t>
            </a:r>
            <a:r>
              <a:rPr dirty="0" sz="1750" spc="-55">
                <a:latin typeface="Arial Black"/>
                <a:cs typeface="Arial Black"/>
              </a:rPr>
              <a:t>Assistance</a:t>
            </a:r>
            <a:endParaRPr sz="175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7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dirty="0" sz="1750" spc="-140">
                <a:latin typeface="Arial Black"/>
                <a:cs typeface="Arial Black"/>
              </a:rPr>
              <a:t>Expected</a:t>
            </a:r>
            <a:r>
              <a:rPr dirty="0" sz="1750" spc="-125">
                <a:latin typeface="Arial Black"/>
                <a:cs typeface="Arial Black"/>
              </a:rPr>
              <a:t> </a:t>
            </a:r>
            <a:r>
              <a:rPr dirty="0" sz="1750" spc="-10">
                <a:latin typeface="Arial Black"/>
                <a:cs typeface="Arial Black"/>
              </a:rPr>
              <a:t>Outcome</a:t>
            </a:r>
            <a:endParaRPr sz="17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750" spc="-155">
                <a:latin typeface="Arial Black"/>
                <a:cs typeface="Arial Black"/>
              </a:rPr>
              <a:t>A</a:t>
            </a:r>
            <a:r>
              <a:rPr dirty="0" sz="1750" spc="-130">
                <a:latin typeface="Arial Black"/>
                <a:cs typeface="Arial Black"/>
              </a:rPr>
              <a:t> smart </a:t>
            </a:r>
            <a:r>
              <a:rPr dirty="0" sz="1750" spc="-100">
                <a:latin typeface="Arial Black"/>
                <a:cs typeface="Arial Black"/>
              </a:rPr>
              <a:t>chatbot</a:t>
            </a:r>
            <a:r>
              <a:rPr dirty="0" sz="1750" spc="-130">
                <a:latin typeface="Arial Black"/>
                <a:cs typeface="Arial Black"/>
              </a:rPr>
              <a:t> </a:t>
            </a:r>
            <a:r>
              <a:rPr dirty="0" sz="1750" spc="-95">
                <a:latin typeface="Arial Black"/>
                <a:cs typeface="Arial Black"/>
              </a:rPr>
              <a:t>that</a:t>
            </a:r>
            <a:r>
              <a:rPr dirty="0" sz="1750" spc="-130">
                <a:latin typeface="Arial Black"/>
                <a:cs typeface="Arial Black"/>
              </a:rPr>
              <a:t> </a:t>
            </a:r>
            <a:r>
              <a:rPr dirty="0" sz="1750" spc="-105">
                <a:latin typeface="Arial Black"/>
                <a:cs typeface="Arial Black"/>
              </a:rPr>
              <a:t>improves</a:t>
            </a:r>
            <a:r>
              <a:rPr dirty="0" sz="1750" spc="-130">
                <a:latin typeface="Arial Black"/>
                <a:cs typeface="Arial Black"/>
              </a:rPr>
              <a:t> </a:t>
            </a:r>
            <a:r>
              <a:rPr dirty="0" sz="1750" spc="-95">
                <a:latin typeface="Arial Black"/>
                <a:cs typeface="Arial Black"/>
              </a:rPr>
              <a:t>student</a:t>
            </a:r>
            <a:r>
              <a:rPr dirty="0" sz="1750" spc="-130">
                <a:latin typeface="Arial Black"/>
                <a:cs typeface="Arial Black"/>
              </a:rPr>
              <a:t> </a:t>
            </a:r>
            <a:r>
              <a:rPr dirty="0" sz="1750" spc="-135">
                <a:latin typeface="Arial Black"/>
                <a:cs typeface="Arial Black"/>
              </a:rPr>
              <a:t>experience</a:t>
            </a:r>
            <a:r>
              <a:rPr dirty="0" sz="1750" spc="-130">
                <a:latin typeface="Arial Black"/>
                <a:cs typeface="Arial Black"/>
              </a:rPr>
              <a:t> </a:t>
            </a:r>
            <a:r>
              <a:rPr dirty="0" sz="1750" spc="-100">
                <a:latin typeface="Arial Black"/>
                <a:cs typeface="Arial Black"/>
              </a:rPr>
              <a:t>and</a:t>
            </a:r>
            <a:r>
              <a:rPr dirty="0" sz="1750" spc="-130">
                <a:latin typeface="Arial Black"/>
                <a:cs typeface="Arial Black"/>
              </a:rPr>
              <a:t> reduces </a:t>
            </a:r>
            <a:r>
              <a:rPr dirty="0" sz="1750" spc="-90">
                <a:latin typeface="Arial Black"/>
                <a:cs typeface="Arial Black"/>
              </a:rPr>
              <a:t>the</a:t>
            </a:r>
            <a:r>
              <a:rPr dirty="0" sz="1750" spc="-130">
                <a:latin typeface="Arial Black"/>
                <a:cs typeface="Arial Black"/>
              </a:rPr>
              <a:t> workload </a:t>
            </a:r>
            <a:r>
              <a:rPr dirty="0" sz="1750" spc="-40">
                <a:latin typeface="Arial Black"/>
                <a:cs typeface="Arial Black"/>
              </a:rPr>
              <a:t>of</a:t>
            </a:r>
            <a:r>
              <a:rPr dirty="0" sz="1750" spc="-130">
                <a:latin typeface="Arial Black"/>
                <a:cs typeface="Arial Black"/>
              </a:rPr>
              <a:t> </a:t>
            </a:r>
            <a:r>
              <a:rPr dirty="0" sz="1750" spc="-125">
                <a:latin typeface="Arial Black"/>
                <a:cs typeface="Arial Black"/>
              </a:rPr>
              <a:t>admission</a:t>
            </a:r>
            <a:r>
              <a:rPr dirty="0" sz="1750" spc="-130">
                <a:latin typeface="Arial Black"/>
                <a:cs typeface="Arial Black"/>
              </a:rPr>
              <a:t> </a:t>
            </a:r>
            <a:r>
              <a:rPr dirty="0" sz="1750" spc="-10">
                <a:latin typeface="Arial Black"/>
                <a:cs typeface="Arial Black"/>
              </a:rPr>
              <a:t>staff</a:t>
            </a:r>
            <a:endParaRPr sz="17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6756" y="1408833"/>
            <a:ext cx="7391400" cy="34023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25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Tech</a:t>
            </a:r>
            <a:r>
              <a:rPr dirty="0" sz="1400" spc="1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Stack</a:t>
            </a:r>
            <a:r>
              <a:rPr dirty="0" sz="1400" spc="14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(Mandatory)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30"/>
              </a:lnSpc>
            </a:pPr>
            <a:r>
              <a:rPr dirty="0" sz="1400">
                <a:latin typeface="Arial MT"/>
                <a:cs typeface="Arial MT"/>
              </a:rPr>
              <a:t>Use</a:t>
            </a:r>
            <a:r>
              <a:rPr dirty="0" sz="1400" b="1">
                <a:latin typeface="Arial"/>
                <a:cs typeface="Arial"/>
              </a:rPr>
              <a:t>any</a:t>
            </a:r>
            <a:r>
              <a:rPr dirty="0" sz="1400" spc="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one</a:t>
            </a:r>
            <a:r>
              <a:rPr dirty="0" sz="1400" spc="425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ofthefollowing</a:t>
            </a:r>
            <a:r>
              <a:rPr dirty="0" sz="1400" spc="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approaches:</a:t>
            </a:r>
            <a:endParaRPr sz="1400">
              <a:latin typeface="Arial MT"/>
              <a:cs typeface="Arial MT"/>
            </a:endParaRPr>
          </a:p>
          <a:p>
            <a:pPr marL="12700" marR="4640580">
              <a:lnSpc>
                <a:spcPct val="115399"/>
              </a:lnSpc>
              <a:spcBef>
                <a:spcPts val="1345"/>
              </a:spcBef>
            </a:pPr>
            <a:r>
              <a:rPr dirty="0" sz="1950" b="1">
                <a:latin typeface="Arial"/>
                <a:cs typeface="Arial"/>
              </a:rPr>
              <a:t>IBM</a:t>
            </a:r>
            <a:r>
              <a:rPr dirty="0" sz="1950" spc="20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watsonx</a:t>
            </a:r>
            <a:r>
              <a:rPr dirty="0" sz="1950" spc="20" b="1">
                <a:latin typeface="Arial"/>
                <a:cs typeface="Arial"/>
              </a:rPr>
              <a:t> </a:t>
            </a:r>
            <a:r>
              <a:rPr dirty="0" sz="1950" spc="-10" b="1">
                <a:latin typeface="Arial"/>
                <a:cs typeface="Arial"/>
              </a:rPr>
              <a:t>Assistant </a:t>
            </a:r>
            <a:r>
              <a:rPr dirty="0" sz="1950" b="1">
                <a:latin typeface="Arial"/>
                <a:cs typeface="Arial"/>
              </a:rPr>
              <a:t>IBM</a:t>
            </a:r>
            <a:r>
              <a:rPr dirty="0" sz="1950" spc="20" b="1">
                <a:latin typeface="Arial"/>
                <a:cs typeface="Arial"/>
              </a:rPr>
              <a:t> </a:t>
            </a:r>
            <a:r>
              <a:rPr dirty="0" sz="1950" spc="-10" b="1">
                <a:latin typeface="Arial"/>
                <a:cs typeface="Arial"/>
              </a:rPr>
              <a:t>watsonx.ai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950" b="1">
                <a:latin typeface="Arial"/>
                <a:cs typeface="Arial"/>
              </a:rPr>
              <a:t>IBM</a:t>
            </a:r>
            <a:r>
              <a:rPr dirty="0" sz="1950" spc="20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Granite</a:t>
            </a:r>
            <a:r>
              <a:rPr dirty="0" sz="1950" spc="20" b="1">
                <a:latin typeface="Arial"/>
                <a:cs typeface="Arial"/>
              </a:rPr>
              <a:t> </a:t>
            </a:r>
            <a:r>
              <a:rPr dirty="0" sz="1950" spc="-10" b="1">
                <a:latin typeface="Arial"/>
                <a:cs typeface="Arial"/>
              </a:rPr>
              <a:t>Models</a:t>
            </a:r>
            <a:endParaRPr sz="1950">
              <a:latin typeface="Arial"/>
              <a:cs typeface="Arial"/>
            </a:endParaRPr>
          </a:p>
          <a:p>
            <a:pPr marL="12700" marR="3094990">
              <a:lnSpc>
                <a:spcPct val="115399"/>
              </a:lnSpc>
            </a:pPr>
            <a:r>
              <a:rPr dirty="0" sz="1950" b="1">
                <a:latin typeface="Arial"/>
                <a:cs typeface="Arial"/>
              </a:rPr>
              <a:t>Natural</a:t>
            </a:r>
            <a:r>
              <a:rPr dirty="0" sz="1950" spc="15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Language</a:t>
            </a:r>
            <a:r>
              <a:rPr dirty="0" sz="1950" spc="20" b="1">
                <a:latin typeface="Arial"/>
                <a:cs typeface="Arial"/>
              </a:rPr>
              <a:t> </a:t>
            </a:r>
            <a:r>
              <a:rPr dirty="0" sz="1950" b="1">
                <a:latin typeface="Arial"/>
                <a:cs typeface="Arial"/>
              </a:rPr>
              <a:t>Processing</a:t>
            </a:r>
            <a:r>
              <a:rPr dirty="0" sz="1950" spc="15" b="1">
                <a:latin typeface="Arial"/>
                <a:cs typeface="Arial"/>
              </a:rPr>
              <a:t> </a:t>
            </a:r>
            <a:r>
              <a:rPr dirty="0" sz="1950" spc="-10" b="1">
                <a:latin typeface="Arial"/>
                <a:cs typeface="Arial"/>
              </a:rPr>
              <a:t>(NLP) </a:t>
            </a:r>
            <a:r>
              <a:rPr dirty="0" sz="1950" b="1">
                <a:latin typeface="Arial"/>
                <a:cs typeface="Arial"/>
              </a:rPr>
              <a:t>IBM</a:t>
            </a:r>
            <a:r>
              <a:rPr dirty="0" sz="1950" spc="20" b="1">
                <a:latin typeface="Arial"/>
                <a:cs typeface="Arial"/>
              </a:rPr>
              <a:t> </a:t>
            </a:r>
            <a:r>
              <a:rPr dirty="0" sz="1950" spc="-10" b="1">
                <a:latin typeface="Arial"/>
                <a:cs typeface="Arial"/>
              </a:rPr>
              <a:t>Cloud</a:t>
            </a:r>
            <a:endParaRPr sz="1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100" b="1">
                <a:latin typeface="Arial"/>
                <a:cs typeface="Arial"/>
              </a:rPr>
              <a:t>I</a:t>
            </a:r>
            <a:r>
              <a:rPr dirty="0" sz="2100" spc="-10" b="1">
                <a:latin typeface="Arial"/>
                <a:cs typeface="Arial"/>
              </a:rPr>
              <a:t> used: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2100" b="1">
                <a:latin typeface="Arial"/>
                <a:cs typeface="Arial"/>
              </a:rPr>
              <a:t>IBM</a:t>
            </a:r>
            <a:r>
              <a:rPr dirty="0" sz="2100" spc="-10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watsonx</a:t>
            </a:r>
            <a:r>
              <a:rPr dirty="0" sz="2100" spc="-10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Assistant</a:t>
            </a:r>
            <a:r>
              <a:rPr dirty="0" sz="2100" spc="-10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+</a:t>
            </a:r>
            <a:r>
              <a:rPr dirty="0" sz="2100" spc="-10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IBM</a:t>
            </a:r>
            <a:r>
              <a:rPr dirty="0" sz="2100" spc="-10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watsonx.ai</a:t>
            </a:r>
            <a:r>
              <a:rPr dirty="0" sz="2100" spc="-10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+</a:t>
            </a:r>
            <a:r>
              <a:rPr dirty="0" sz="2100" spc="-10" b="1">
                <a:latin typeface="Arial"/>
                <a:cs typeface="Arial"/>
              </a:rPr>
              <a:t> </a:t>
            </a:r>
            <a:r>
              <a:rPr dirty="0" sz="2100" b="1">
                <a:latin typeface="Arial"/>
                <a:cs typeface="Arial"/>
              </a:rPr>
              <a:t>Granite</a:t>
            </a:r>
            <a:r>
              <a:rPr dirty="0" sz="2100" spc="-10" b="1">
                <a:latin typeface="Arial"/>
                <a:cs typeface="Arial"/>
              </a:rPr>
              <a:t> Models</a:t>
            </a:r>
            <a:endParaRPr sz="2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52878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Technology</a:t>
            </a:r>
            <a:r>
              <a:rPr dirty="0" spc="-95"/>
              <a:t> </a:t>
            </a:r>
            <a:r>
              <a:rPr dirty="0" spc="-20"/>
              <a:t>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49" y="4036366"/>
            <a:ext cx="66675" cy="666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49" y="4331641"/>
            <a:ext cx="66675" cy="666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49" y="4626916"/>
            <a:ext cx="66675" cy="666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49" y="4922191"/>
            <a:ext cx="66675" cy="666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49" y="5217466"/>
            <a:ext cx="66675" cy="666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49" y="5512741"/>
            <a:ext cx="66675" cy="666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49" y="5808016"/>
            <a:ext cx="66675" cy="666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49" y="6103291"/>
            <a:ext cx="66675" cy="666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73099" y="913449"/>
            <a:ext cx="9330690" cy="5340350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439"/>
              </a:spcBef>
            </a:pPr>
            <a:r>
              <a:rPr dirty="0" sz="1650">
                <a:latin typeface="Arial MT"/>
                <a:cs typeface="Arial MT"/>
              </a:rPr>
              <a:t>Proposed</a:t>
            </a:r>
            <a:r>
              <a:rPr dirty="0" sz="1650" spc="7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Solution:</a:t>
            </a:r>
            <a:r>
              <a:rPr dirty="0" sz="1650" spc="7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AI-Powered</a:t>
            </a:r>
            <a:r>
              <a:rPr dirty="0" sz="1650" spc="7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College</a:t>
            </a:r>
            <a:r>
              <a:rPr dirty="0" sz="1650" spc="7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Admission</a:t>
            </a:r>
            <a:r>
              <a:rPr dirty="0" sz="1650" spc="7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Chatbot</a:t>
            </a:r>
            <a:endParaRPr sz="1650">
              <a:latin typeface="Arial MT"/>
              <a:cs typeface="Arial MT"/>
            </a:endParaRPr>
          </a:p>
          <a:p>
            <a:pPr algn="just" marL="12700" marR="5080">
              <a:lnSpc>
                <a:spcPct val="117400"/>
              </a:lnSpc>
            </a:pP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37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proposed</a:t>
            </a:r>
            <a:r>
              <a:rPr dirty="0" sz="1650" spc="37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solution</a:t>
            </a:r>
            <a:r>
              <a:rPr dirty="0" sz="1650" spc="37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is</a:t>
            </a:r>
            <a:r>
              <a:rPr dirty="0" sz="1650" spc="38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</a:t>
            </a:r>
            <a:r>
              <a:rPr dirty="0" sz="1650" spc="37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AI-powered</a:t>
            </a:r>
            <a:r>
              <a:rPr dirty="0" sz="1650" spc="37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chatbot</a:t>
            </a:r>
            <a:r>
              <a:rPr dirty="0" sz="1650" spc="37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developed</a:t>
            </a:r>
            <a:r>
              <a:rPr dirty="0" sz="1650" spc="37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using</a:t>
            </a:r>
            <a:r>
              <a:rPr dirty="0" sz="1650" spc="38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IBM</a:t>
            </a:r>
            <a:r>
              <a:rPr dirty="0" sz="1650" spc="37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watsonx</a:t>
            </a:r>
            <a:r>
              <a:rPr dirty="0" sz="1650" spc="37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Assistant,</a:t>
            </a:r>
            <a:r>
              <a:rPr dirty="0" sz="1650" spc="375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IBM </a:t>
            </a:r>
            <a:r>
              <a:rPr dirty="0" sz="1650">
                <a:latin typeface="Arial MT"/>
                <a:cs typeface="Arial MT"/>
              </a:rPr>
              <a:t>watsonx.ai,</a:t>
            </a:r>
            <a:r>
              <a:rPr dirty="0" sz="1650" spc="26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26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Granite</a:t>
            </a:r>
            <a:r>
              <a:rPr dirty="0" sz="1650" spc="26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Models.</a:t>
            </a:r>
            <a:r>
              <a:rPr dirty="0" sz="1650" spc="26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26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chatbot</a:t>
            </a:r>
            <a:r>
              <a:rPr dirty="0" sz="1650" spc="26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is</a:t>
            </a:r>
            <a:r>
              <a:rPr dirty="0" sz="1650" spc="26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designed</a:t>
            </a:r>
            <a:r>
              <a:rPr dirty="0" sz="1650" spc="26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26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assist</a:t>
            </a:r>
            <a:r>
              <a:rPr dirty="0" sz="1650" spc="26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students</a:t>
            </a:r>
            <a:r>
              <a:rPr dirty="0" sz="1650" spc="26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by</a:t>
            </a:r>
            <a:r>
              <a:rPr dirty="0" sz="1650" spc="26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providing</a:t>
            </a:r>
            <a:r>
              <a:rPr dirty="0" sz="1650" spc="27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instant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47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accurate</a:t>
            </a:r>
            <a:r>
              <a:rPr dirty="0" sz="1650" spc="47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information</a:t>
            </a:r>
            <a:r>
              <a:rPr dirty="0" sz="1650" spc="47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related</a:t>
            </a:r>
            <a:r>
              <a:rPr dirty="0" sz="1650" spc="47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47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college</a:t>
            </a:r>
            <a:r>
              <a:rPr dirty="0" sz="1650" spc="47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admissions.</a:t>
            </a:r>
            <a:r>
              <a:rPr dirty="0" sz="1650" spc="47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It</a:t>
            </a:r>
            <a:r>
              <a:rPr dirty="0" sz="1650" spc="47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offers</a:t>
            </a:r>
            <a:r>
              <a:rPr dirty="0" sz="1650" spc="47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</a:t>
            </a:r>
            <a:r>
              <a:rPr dirty="0" sz="1650" spc="47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user-friendly</a:t>
            </a:r>
            <a:r>
              <a:rPr dirty="0" sz="1650" spc="47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interface</a:t>
            </a:r>
            <a:r>
              <a:rPr dirty="0" sz="1650" spc="475">
                <a:latin typeface="Arial MT"/>
                <a:cs typeface="Arial MT"/>
              </a:rPr>
              <a:t> </a:t>
            </a:r>
            <a:r>
              <a:rPr dirty="0" sz="1650" spc="-20">
                <a:latin typeface="Arial MT"/>
                <a:cs typeface="Arial MT"/>
              </a:rPr>
              <a:t>that </a:t>
            </a:r>
            <a:r>
              <a:rPr dirty="0" sz="1650">
                <a:latin typeface="Arial MT"/>
                <a:cs typeface="Arial MT"/>
              </a:rPr>
              <a:t>allows</a:t>
            </a:r>
            <a:r>
              <a:rPr dirty="0" sz="1650" spc="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students</a:t>
            </a:r>
            <a:r>
              <a:rPr dirty="0" sz="1650" spc="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interact</a:t>
            </a:r>
            <a:r>
              <a:rPr dirty="0" sz="1650" spc="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naturally</a:t>
            </a:r>
            <a:r>
              <a:rPr dirty="0" sz="1650" spc="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receive</a:t>
            </a:r>
            <a:r>
              <a:rPr dirty="0" sz="1650" spc="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quick</a:t>
            </a:r>
            <a:r>
              <a:rPr dirty="0" sz="1650" spc="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responses</a:t>
            </a:r>
            <a:r>
              <a:rPr dirty="0" sz="1650" spc="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their</a:t>
            </a:r>
            <a:r>
              <a:rPr dirty="0" sz="1650" spc="4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queries.</a:t>
            </a:r>
            <a:endParaRPr sz="1650">
              <a:latin typeface="Arial MT"/>
              <a:cs typeface="Arial MT"/>
            </a:endParaRPr>
          </a:p>
          <a:p>
            <a:pPr algn="just" marL="12700" marR="5080">
              <a:lnSpc>
                <a:spcPct val="117400"/>
              </a:lnSpc>
            </a:pP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40">
                <a:latin typeface="Arial MT"/>
                <a:cs typeface="Arial MT"/>
              </a:rPr>
              <a:t>  </a:t>
            </a:r>
            <a:r>
              <a:rPr dirty="0" sz="1650">
                <a:latin typeface="Arial MT"/>
                <a:cs typeface="Arial MT"/>
              </a:rPr>
              <a:t>chatbot</a:t>
            </a:r>
            <a:r>
              <a:rPr dirty="0" sz="1650" spc="40">
                <a:latin typeface="Arial MT"/>
                <a:cs typeface="Arial MT"/>
              </a:rPr>
              <a:t>  </a:t>
            </a:r>
            <a:r>
              <a:rPr dirty="0" sz="1650">
                <a:latin typeface="Arial MT"/>
                <a:cs typeface="Arial MT"/>
              </a:rPr>
              <a:t>helps</a:t>
            </a:r>
            <a:r>
              <a:rPr dirty="0" sz="1650" spc="40">
                <a:latin typeface="Arial MT"/>
                <a:cs typeface="Arial MT"/>
              </a:rPr>
              <a:t>  </a:t>
            </a:r>
            <a:r>
              <a:rPr dirty="0" sz="1650">
                <a:latin typeface="Arial MT"/>
                <a:cs typeface="Arial MT"/>
              </a:rPr>
              <a:t>students</a:t>
            </a:r>
            <a:r>
              <a:rPr dirty="0" sz="1650" spc="40">
                <a:latin typeface="Arial MT"/>
                <a:cs typeface="Arial MT"/>
              </a:rPr>
              <a:t>  </a:t>
            </a:r>
            <a:r>
              <a:rPr dirty="0" sz="1650">
                <a:latin typeface="Arial MT"/>
                <a:cs typeface="Arial MT"/>
              </a:rPr>
              <a:t>obtain</a:t>
            </a:r>
            <a:r>
              <a:rPr dirty="0" sz="1650" spc="40">
                <a:latin typeface="Arial MT"/>
                <a:cs typeface="Arial MT"/>
              </a:rPr>
              <a:t>  </a:t>
            </a:r>
            <a:r>
              <a:rPr dirty="0" sz="1650">
                <a:latin typeface="Arial MT"/>
                <a:cs typeface="Arial MT"/>
              </a:rPr>
              <a:t>information</a:t>
            </a:r>
            <a:r>
              <a:rPr dirty="0" sz="1650" spc="40">
                <a:latin typeface="Arial MT"/>
                <a:cs typeface="Arial MT"/>
              </a:rPr>
              <a:t>  </a:t>
            </a:r>
            <a:r>
              <a:rPr dirty="0" sz="1650">
                <a:latin typeface="Arial MT"/>
                <a:cs typeface="Arial MT"/>
              </a:rPr>
              <a:t>about</a:t>
            </a:r>
            <a:r>
              <a:rPr dirty="0" sz="1650" spc="45">
                <a:latin typeface="Arial MT"/>
                <a:cs typeface="Arial MT"/>
              </a:rPr>
              <a:t>  </a:t>
            </a:r>
            <a:r>
              <a:rPr dirty="0" sz="1650">
                <a:latin typeface="Arial MT"/>
                <a:cs typeface="Arial MT"/>
              </a:rPr>
              <a:t>available</a:t>
            </a:r>
            <a:r>
              <a:rPr dirty="0" sz="1650" spc="40">
                <a:latin typeface="Arial MT"/>
                <a:cs typeface="Arial MT"/>
              </a:rPr>
              <a:t>  </a:t>
            </a:r>
            <a:r>
              <a:rPr dirty="0" sz="1650">
                <a:latin typeface="Arial MT"/>
                <a:cs typeface="Arial MT"/>
              </a:rPr>
              <a:t>courses,</a:t>
            </a:r>
            <a:r>
              <a:rPr dirty="0" sz="1650" spc="40">
                <a:latin typeface="Arial MT"/>
                <a:cs typeface="Arial MT"/>
              </a:rPr>
              <a:t>  </a:t>
            </a:r>
            <a:r>
              <a:rPr dirty="0" sz="1650">
                <a:latin typeface="Arial MT"/>
                <a:cs typeface="Arial MT"/>
              </a:rPr>
              <a:t>eligibility</a:t>
            </a:r>
            <a:r>
              <a:rPr dirty="0" sz="1650" spc="40">
                <a:latin typeface="Arial MT"/>
                <a:cs typeface="Arial MT"/>
              </a:rPr>
              <a:t>  </a:t>
            </a:r>
            <a:r>
              <a:rPr dirty="0" sz="1650">
                <a:latin typeface="Arial MT"/>
                <a:cs typeface="Arial MT"/>
              </a:rPr>
              <a:t>criteria,</a:t>
            </a:r>
            <a:r>
              <a:rPr dirty="0" sz="1650" spc="40">
                <a:latin typeface="Arial MT"/>
                <a:cs typeface="Arial MT"/>
              </a:rPr>
              <a:t>  </a:t>
            </a:r>
            <a:r>
              <a:rPr dirty="0" sz="1650" spc="-25">
                <a:latin typeface="Arial MT"/>
                <a:cs typeface="Arial MT"/>
              </a:rPr>
              <a:t>fee </a:t>
            </a:r>
            <a:r>
              <a:rPr dirty="0" sz="1650">
                <a:latin typeface="Arial MT"/>
                <a:cs typeface="Arial MT"/>
              </a:rPr>
              <a:t>structures,</a:t>
            </a:r>
            <a:r>
              <a:rPr dirty="0" sz="1650" spc="3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required</a:t>
            </a:r>
            <a:r>
              <a:rPr dirty="0" sz="1650" spc="3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documents,</a:t>
            </a:r>
            <a:r>
              <a:rPr dirty="0" sz="1650" spc="3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admission</a:t>
            </a:r>
            <a:r>
              <a:rPr dirty="0" sz="1650" spc="3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procedures,</a:t>
            </a:r>
            <a:r>
              <a:rPr dirty="0" sz="1650" spc="3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3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important</a:t>
            </a:r>
            <a:r>
              <a:rPr dirty="0" sz="1650" spc="3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deadlines.</a:t>
            </a:r>
            <a:r>
              <a:rPr dirty="0" sz="1650" spc="3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By</a:t>
            </a:r>
            <a:r>
              <a:rPr dirty="0" sz="1650" spc="34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automating </a:t>
            </a:r>
            <a:r>
              <a:rPr dirty="0" sz="1650">
                <a:latin typeface="Arial MT"/>
                <a:cs typeface="Arial MT"/>
              </a:rPr>
              <a:t>responses</a:t>
            </a:r>
            <a:r>
              <a:rPr dirty="0" sz="1650" spc="1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to</a:t>
            </a:r>
            <a:r>
              <a:rPr dirty="0" sz="1650" spc="1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frequently</a:t>
            </a:r>
            <a:r>
              <a:rPr dirty="0" sz="1650" spc="1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asked</a:t>
            </a:r>
            <a:r>
              <a:rPr dirty="0" sz="1650" spc="1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questions,</a:t>
            </a:r>
            <a:r>
              <a:rPr dirty="0" sz="1650" spc="1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1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system</a:t>
            </a:r>
            <a:r>
              <a:rPr dirty="0" sz="1650" spc="1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reduces</a:t>
            </a:r>
            <a:r>
              <a:rPr dirty="0" sz="1650" spc="1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1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workload</a:t>
            </a:r>
            <a:r>
              <a:rPr dirty="0" sz="1650" spc="1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of</a:t>
            </a:r>
            <a:r>
              <a:rPr dirty="0" sz="1650" spc="13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admission</a:t>
            </a:r>
            <a:r>
              <a:rPr dirty="0" sz="1650" spc="14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staff</a:t>
            </a:r>
            <a:r>
              <a:rPr dirty="0" sz="1650" spc="135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and </a:t>
            </a:r>
            <a:r>
              <a:rPr dirty="0" sz="1650">
                <a:latin typeface="Arial MT"/>
                <a:cs typeface="Arial MT"/>
              </a:rPr>
              <a:t>improves</a:t>
            </a:r>
            <a:r>
              <a:rPr dirty="0" sz="1650" spc="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6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overall</a:t>
            </a:r>
            <a:r>
              <a:rPr dirty="0" sz="1650" spc="6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admission</a:t>
            </a:r>
            <a:r>
              <a:rPr dirty="0" sz="1650" spc="6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experience.</a:t>
            </a:r>
            <a:endParaRPr sz="16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345"/>
              </a:spcBef>
            </a:pPr>
            <a:r>
              <a:rPr dirty="0" sz="1650">
                <a:latin typeface="Arial MT"/>
                <a:cs typeface="Arial MT"/>
              </a:rPr>
              <a:t>Key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Features:</a:t>
            </a:r>
            <a:endParaRPr sz="1650">
              <a:latin typeface="Arial MT"/>
              <a:cs typeface="Arial MT"/>
            </a:endParaRPr>
          </a:p>
          <a:p>
            <a:pPr marL="374015" marR="5141595">
              <a:lnSpc>
                <a:spcPct val="117400"/>
              </a:lnSpc>
            </a:pPr>
            <a:r>
              <a:rPr dirty="0" sz="1650">
                <a:latin typeface="Arial MT"/>
                <a:cs typeface="Arial MT"/>
              </a:rPr>
              <a:t>Course</a:t>
            </a:r>
            <a:r>
              <a:rPr dirty="0" sz="1650" spc="6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Information</a:t>
            </a:r>
            <a:r>
              <a:rPr dirty="0" sz="1650" spc="6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6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Program</a:t>
            </a:r>
            <a:r>
              <a:rPr dirty="0" sz="1650" spc="6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Details </a:t>
            </a:r>
            <a:r>
              <a:rPr dirty="0" sz="1650">
                <a:latin typeface="Arial MT"/>
                <a:cs typeface="Arial MT"/>
              </a:rPr>
              <a:t>Eligibility</a:t>
            </a:r>
            <a:r>
              <a:rPr dirty="0" sz="1650" spc="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Criteria</a:t>
            </a:r>
            <a:r>
              <a:rPr dirty="0" sz="1650" spc="5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Guidance</a:t>
            </a:r>
            <a:endParaRPr sz="1650">
              <a:latin typeface="Arial MT"/>
              <a:cs typeface="Arial MT"/>
            </a:endParaRPr>
          </a:p>
          <a:p>
            <a:pPr marL="374015" marR="6015990">
              <a:lnSpc>
                <a:spcPct val="117400"/>
              </a:lnSpc>
            </a:pPr>
            <a:r>
              <a:rPr dirty="0" sz="1650">
                <a:latin typeface="Arial MT"/>
                <a:cs typeface="Arial MT"/>
              </a:rPr>
              <a:t>Fee</a:t>
            </a:r>
            <a:r>
              <a:rPr dirty="0" sz="1650" spc="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Structure</a:t>
            </a:r>
            <a:r>
              <a:rPr dirty="0" sz="1650" spc="4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Information </a:t>
            </a:r>
            <a:r>
              <a:rPr dirty="0" sz="1650">
                <a:latin typeface="Arial MT"/>
                <a:cs typeface="Arial MT"/>
              </a:rPr>
              <a:t>Required</a:t>
            </a:r>
            <a:r>
              <a:rPr dirty="0" sz="1650" spc="8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Documents</a:t>
            </a:r>
            <a:r>
              <a:rPr dirty="0" sz="1650" spc="8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Support </a:t>
            </a:r>
            <a:r>
              <a:rPr dirty="0" sz="1650">
                <a:latin typeface="Arial MT"/>
                <a:cs typeface="Arial MT"/>
              </a:rPr>
              <a:t>Admission</a:t>
            </a:r>
            <a:r>
              <a:rPr dirty="0" sz="1650" spc="6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Process</a:t>
            </a:r>
            <a:r>
              <a:rPr dirty="0" sz="1650" spc="6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Assistance </a:t>
            </a:r>
            <a:r>
              <a:rPr dirty="0" sz="1650">
                <a:latin typeface="Arial MT"/>
                <a:cs typeface="Arial MT"/>
              </a:rPr>
              <a:t>Important</a:t>
            </a:r>
            <a:r>
              <a:rPr dirty="0" sz="1650" spc="4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Dates</a:t>
            </a:r>
            <a:r>
              <a:rPr dirty="0" sz="1650" spc="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5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Deadlines</a:t>
            </a:r>
            <a:endParaRPr sz="1650">
              <a:latin typeface="Arial MT"/>
              <a:cs typeface="Arial MT"/>
            </a:endParaRPr>
          </a:p>
          <a:p>
            <a:pPr marL="374015" marR="5532120">
              <a:lnSpc>
                <a:spcPct val="117400"/>
              </a:lnSpc>
            </a:pPr>
            <a:r>
              <a:rPr dirty="0" sz="1650">
                <a:latin typeface="Arial MT"/>
                <a:cs typeface="Arial MT"/>
              </a:rPr>
              <a:t>Frequently</a:t>
            </a:r>
            <a:r>
              <a:rPr dirty="0" sz="1650" spc="6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Asked</a:t>
            </a:r>
            <a:r>
              <a:rPr dirty="0" sz="1650" spc="7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Questions</a:t>
            </a:r>
            <a:r>
              <a:rPr dirty="0" sz="1650" spc="7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(FAQs) </a:t>
            </a:r>
            <a:r>
              <a:rPr dirty="0" sz="1650">
                <a:latin typeface="Arial MT"/>
                <a:cs typeface="Arial MT"/>
              </a:rPr>
              <a:t>24/7</a:t>
            </a:r>
            <a:r>
              <a:rPr dirty="0" sz="1650" spc="5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Student</a:t>
            </a:r>
            <a:r>
              <a:rPr dirty="0" sz="1650" spc="5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Support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673099" y="434975"/>
            <a:ext cx="35318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90" b="0">
                <a:latin typeface="Arial Black"/>
                <a:cs typeface="Arial Black"/>
              </a:rPr>
              <a:t>Proposed</a:t>
            </a:r>
            <a:r>
              <a:rPr dirty="0" sz="3000" spc="-229" b="0">
                <a:latin typeface="Arial Black"/>
                <a:cs typeface="Arial Black"/>
              </a:rPr>
              <a:t> </a:t>
            </a:r>
            <a:r>
              <a:rPr dirty="0" sz="3000" spc="-130" b="0">
                <a:latin typeface="Arial Black"/>
                <a:cs typeface="Arial Black"/>
              </a:rPr>
              <a:t>solution:</a:t>
            </a:r>
            <a:endParaRPr sz="30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73099" y="291312"/>
            <a:ext cx="4027804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Langflowcomponent</a:t>
            </a:r>
            <a:r>
              <a:rPr dirty="0" spc="-90"/>
              <a:t> </a:t>
            </a:r>
            <a:r>
              <a:rPr dirty="0"/>
              <a:t>Used</a:t>
            </a:r>
            <a:r>
              <a:rPr dirty="0" spc="-90"/>
              <a:t> </a:t>
            </a:r>
            <a:r>
              <a:rPr dirty="0" spc="-50"/>
              <a:t>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099" y="1115907"/>
            <a:ext cx="11531600" cy="369252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900">
                <a:latin typeface="Arial MT"/>
                <a:cs typeface="Arial MT"/>
              </a:rPr>
              <a:t>Langflow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Component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Used</a:t>
            </a:r>
            <a:endParaRPr sz="1900">
              <a:latin typeface="Arial MT"/>
              <a:cs typeface="Arial MT"/>
            </a:endParaRPr>
          </a:p>
          <a:p>
            <a:pPr marL="292100" indent="-279400">
              <a:lnSpc>
                <a:spcPct val="100000"/>
              </a:lnSpc>
              <a:spcBef>
                <a:spcPts val="345"/>
              </a:spcBef>
              <a:buAutoNum type="arabicParenR"/>
              <a:tabLst>
                <a:tab pos="292100" algn="l"/>
              </a:tabLst>
            </a:pPr>
            <a:r>
              <a:rPr dirty="0" sz="1900">
                <a:latin typeface="Arial MT"/>
                <a:cs typeface="Arial MT"/>
              </a:rPr>
              <a:t>Chat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Input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–</a:t>
            </a:r>
            <a:r>
              <a:rPr dirty="0" sz="1900" spc="-4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Interface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where</a:t>
            </a:r>
            <a:r>
              <a:rPr dirty="0" sz="1900" spc="-4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students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enter</a:t>
            </a:r>
            <a:r>
              <a:rPr dirty="0" sz="1900" spc="-4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admission-</a:t>
            </a:r>
            <a:r>
              <a:rPr dirty="0" sz="1900">
                <a:latin typeface="Arial MT"/>
                <a:cs typeface="Arial MT"/>
              </a:rPr>
              <a:t>related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queries.</a:t>
            </a:r>
            <a:endParaRPr sz="1900">
              <a:latin typeface="Arial MT"/>
              <a:cs typeface="Arial MT"/>
            </a:endParaRPr>
          </a:p>
          <a:p>
            <a:pPr marL="12700" marR="5080" indent="283210">
              <a:lnSpc>
                <a:spcPct val="115100"/>
              </a:lnSpc>
              <a:buAutoNum type="arabicParenR"/>
              <a:tabLst>
                <a:tab pos="295910" algn="l"/>
              </a:tabLst>
            </a:pPr>
            <a:r>
              <a:rPr dirty="0" sz="1900">
                <a:latin typeface="Arial MT"/>
                <a:cs typeface="Arial MT"/>
              </a:rPr>
              <a:t>IBM</a:t>
            </a:r>
            <a:r>
              <a:rPr dirty="0" sz="1900" spc="-3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watsonx</a:t>
            </a:r>
            <a:r>
              <a:rPr dirty="0" sz="1900" spc="-2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AI</a:t>
            </a:r>
            <a:r>
              <a:rPr dirty="0" sz="1900" spc="-3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Agent</a:t>
            </a:r>
            <a:r>
              <a:rPr dirty="0" sz="1900" spc="-2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–</a:t>
            </a:r>
            <a:r>
              <a:rPr dirty="0" sz="1900" spc="-3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Processes</a:t>
            </a:r>
            <a:r>
              <a:rPr dirty="0" sz="1900" spc="-2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student</a:t>
            </a:r>
            <a:r>
              <a:rPr dirty="0" sz="1900" spc="-3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questions</a:t>
            </a:r>
            <a:r>
              <a:rPr dirty="0" sz="1900" spc="-2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using</a:t>
            </a:r>
            <a:r>
              <a:rPr dirty="0" sz="1900" spc="-2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IBM</a:t>
            </a:r>
            <a:r>
              <a:rPr dirty="0" sz="1900" spc="-3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Granite</a:t>
            </a:r>
            <a:r>
              <a:rPr dirty="0" sz="1900" spc="-2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Models</a:t>
            </a:r>
            <a:r>
              <a:rPr dirty="0" sz="1900" spc="-3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2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generates</a:t>
            </a:r>
            <a:r>
              <a:rPr dirty="0" sz="1900" spc="-3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accurate responses.</a:t>
            </a:r>
            <a:endParaRPr sz="1900">
              <a:latin typeface="Arial MT"/>
              <a:cs typeface="Arial MT"/>
            </a:endParaRPr>
          </a:p>
          <a:p>
            <a:pPr marL="12700" marR="5080" indent="294005">
              <a:lnSpc>
                <a:spcPct val="115100"/>
              </a:lnSpc>
              <a:buAutoNum type="arabicParenR"/>
              <a:tabLst>
                <a:tab pos="306705" algn="l"/>
              </a:tabLst>
            </a:pPr>
            <a:r>
              <a:rPr dirty="0" sz="1900">
                <a:latin typeface="Arial MT"/>
                <a:cs typeface="Arial MT"/>
              </a:rPr>
              <a:t>Name</a:t>
            </a:r>
            <a:r>
              <a:rPr dirty="0" sz="1900" spc="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IBM</a:t>
            </a:r>
            <a:r>
              <a:rPr dirty="0" sz="1900" spc="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Granite</a:t>
            </a:r>
            <a:r>
              <a:rPr dirty="0" sz="1900" spc="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Model</a:t>
            </a:r>
            <a:r>
              <a:rPr dirty="0" sz="1900" spc="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–</a:t>
            </a:r>
            <a:r>
              <a:rPr dirty="0" sz="1900" spc="6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Granite-3.3-8B-</a:t>
            </a:r>
            <a:r>
              <a:rPr dirty="0" sz="1900">
                <a:latin typeface="Arial MT"/>
                <a:cs typeface="Arial MT"/>
              </a:rPr>
              <a:t>Instruct</a:t>
            </a:r>
            <a:r>
              <a:rPr dirty="0" sz="1900" spc="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–</a:t>
            </a:r>
            <a:r>
              <a:rPr dirty="0" sz="1900" spc="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Used</a:t>
            </a:r>
            <a:r>
              <a:rPr dirty="0" sz="1900" spc="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for</a:t>
            </a:r>
            <a:r>
              <a:rPr dirty="0" sz="1900" spc="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understanding</a:t>
            </a:r>
            <a:r>
              <a:rPr dirty="0" sz="1900" spc="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queries</a:t>
            </a:r>
            <a:r>
              <a:rPr dirty="0" sz="1900" spc="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6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generating </a:t>
            </a:r>
            <a:r>
              <a:rPr dirty="0" sz="1900">
                <a:latin typeface="Arial MT"/>
                <a:cs typeface="Arial MT"/>
              </a:rPr>
              <a:t>intelligent</a:t>
            </a:r>
            <a:r>
              <a:rPr dirty="0" sz="1900" spc="-10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answers.</a:t>
            </a:r>
            <a:endParaRPr sz="1900">
              <a:latin typeface="Arial MT"/>
              <a:cs typeface="Arial MT"/>
            </a:endParaRPr>
          </a:p>
          <a:p>
            <a:pPr marL="12700" marR="5080" indent="327660">
              <a:lnSpc>
                <a:spcPct val="115100"/>
              </a:lnSpc>
              <a:buAutoNum type="arabicParenR"/>
              <a:tabLst>
                <a:tab pos="340360" algn="l"/>
              </a:tabLst>
            </a:pPr>
            <a:r>
              <a:rPr dirty="0" sz="1900">
                <a:latin typeface="Arial MT"/>
                <a:cs typeface="Arial MT"/>
              </a:rPr>
              <a:t>Chat</a:t>
            </a:r>
            <a:r>
              <a:rPr dirty="0" sz="1900" spc="31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Output</a:t>
            </a:r>
            <a:r>
              <a:rPr dirty="0" sz="1900" spc="31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–</a:t>
            </a:r>
            <a:r>
              <a:rPr dirty="0" sz="1900" spc="31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Displays</a:t>
            </a:r>
            <a:r>
              <a:rPr dirty="0" sz="1900" spc="31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AI-</a:t>
            </a:r>
            <a:r>
              <a:rPr dirty="0" sz="1900">
                <a:latin typeface="Arial MT"/>
                <a:cs typeface="Arial MT"/>
              </a:rPr>
              <a:t>generated</a:t>
            </a:r>
            <a:r>
              <a:rPr dirty="0" sz="1900" spc="31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responses</a:t>
            </a:r>
            <a:r>
              <a:rPr dirty="0" sz="1900" spc="31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related</a:t>
            </a:r>
            <a:r>
              <a:rPr dirty="0" sz="1900" spc="31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to</a:t>
            </a:r>
            <a:r>
              <a:rPr dirty="0" sz="1900" spc="31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courses,</a:t>
            </a:r>
            <a:r>
              <a:rPr dirty="0" sz="1900" spc="31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eligibility,</a:t>
            </a:r>
            <a:r>
              <a:rPr dirty="0" sz="1900" spc="31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fees,</a:t>
            </a:r>
            <a:r>
              <a:rPr dirty="0" sz="1900" spc="31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documents,</a:t>
            </a:r>
            <a:r>
              <a:rPr dirty="0" sz="1900" spc="31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and </a:t>
            </a:r>
            <a:r>
              <a:rPr dirty="0" sz="1900">
                <a:latin typeface="Arial MT"/>
                <a:cs typeface="Arial MT"/>
              </a:rPr>
              <a:t>admission</a:t>
            </a:r>
            <a:r>
              <a:rPr dirty="0" sz="1900" spc="-10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procedures.</a:t>
            </a:r>
            <a:endParaRPr sz="1900">
              <a:latin typeface="Arial MT"/>
              <a:cs typeface="Arial MT"/>
            </a:endParaRPr>
          </a:p>
          <a:p>
            <a:pPr marL="292100" indent="-279400">
              <a:lnSpc>
                <a:spcPct val="100000"/>
              </a:lnSpc>
              <a:spcBef>
                <a:spcPts val="345"/>
              </a:spcBef>
              <a:buAutoNum type="arabicParenR"/>
              <a:tabLst>
                <a:tab pos="292100" algn="l"/>
              </a:tabLst>
            </a:pPr>
            <a:r>
              <a:rPr dirty="0" sz="1900">
                <a:latin typeface="Arial MT"/>
                <a:cs typeface="Arial MT"/>
              </a:rPr>
              <a:t>Prompt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Component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–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Provides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instructions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context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to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ensure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accurate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admission-</a:t>
            </a:r>
            <a:r>
              <a:rPr dirty="0" sz="1900">
                <a:latin typeface="Arial MT"/>
                <a:cs typeface="Arial MT"/>
              </a:rPr>
              <a:t>related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responses.</a:t>
            </a:r>
            <a:endParaRPr sz="1900">
              <a:latin typeface="Arial MT"/>
              <a:cs typeface="Arial MT"/>
            </a:endParaRPr>
          </a:p>
          <a:p>
            <a:pPr marL="12700" marR="5080" indent="350520">
              <a:lnSpc>
                <a:spcPct val="115100"/>
              </a:lnSpc>
              <a:buAutoNum type="arabicParenR"/>
              <a:tabLst>
                <a:tab pos="363220" algn="l"/>
              </a:tabLst>
            </a:pPr>
            <a:r>
              <a:rPr dirty="0" sz="1900">
                <a:latin typeface="Arial MT"/>
                <a:cs typeface="Arial MT"/>
              </a:rPr>
              <a:t>File</a:t>
            </a:r>
            <a:r>
              <a:rPr dirty="0" sz="1900" spc="4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Component</a:t>
            </a:r>
            <a:r>
              <a:rPr dirty="0" sz="1900" spc="4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–</a:t>
            </a:r>
            <a:r>
              <a:rPr dirty="0" sz="1900" spc="4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Stores</a:t>
            </a:r>
            <a:r>
              <a:rPr dirty="0" sz="1900" spc="4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4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retrieves</a:t>
            </a:r>
            <a:r>
              <a:rPr dirty="0" sz="1900" spc="4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admission</a:t>
            </a:r>
            <a:r>
              <a:rPr dirty="0" sz="1900" spc="4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information,</a:t>
            </a:r>
            <a:r>
              <a:rPr dirty="0" sz="1900" spc="4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course</a:t>
            </a:r>
            <a:r>
              <a:rPr dirty="0" sz="1900" spc="4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details,</a:t>
            </a:r>
            <a:r>
              <a:rPr dirty="0" sz="1900" spc="4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fee</a:t>
            </a:r>
            <a:r>
              <a:rPr dirty="0" sz="1900" spc="4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structures,</a:t>
            </a:r>
            <a:r>
              <a:rPr dirty="0" sz="1900" spc="49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and </a:t>
            </a:r>
            <a:r>
              <a:rPr dirty="0" sz="1900">
                <a:latin typeface="Arial MT"/>
                <a:cs typeface="Arial MT"/>
              </a:rPr>
              <a:t>eligibility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criteria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for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analysis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response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generation.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725" y="1066800"/>
            <a:ext cx="11468099" cy="55435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5462" y="431863"/>
            <a:ext cx="2874645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Langflowworkflow</a:t>
            </a:r>
            <a:r>
              <a:rPr dirty="0" spc="-114"/>
              <a:t> </a:t>
            </a:r>
            <a:r>
              <a:rPr dirty="0" spc="-50"/>
              <a:t>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" y="1066800"/>
            <a:ext cx="10429874" cy="56197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Architecture</a:t>
            </a:r>
            <a:r>
              <a:rPr dirty="0" spc="-105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blueprint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055" y="456740"/>
            <a:ext cx="9601199" cy="64007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099" y="651827"/>
            <a:ext cx="11520170" cy="3991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Technology</a:t>
            </a:r>
            <a:r>
              <a:rPr dirty="0" sz="2400" spc="-95" b="1">
                <a:latin typeface="Arial"/>
                <a:cs typeface="Arial"/>
              </a:rPr>
              <a:t> </a:t>
            </a:r>
            <a:r>
              <a:rPr dirty="0" sz="2400" spc="-20" b="1">
                <a:latin typeface="Arial"/>
                <a:cs typeface="Arial"/>
              </a:rPr>
              <a:t>Used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65"/>
              </a:spcBef>
            </a:pPr>
            <a:r>
              <a:rPr dirty="0" sz="2400">
                <a:latin typeface="Arial MT"/>
                <a:cs typeface="Arial MT"/>
              </a:rPr>
              <a:t>Langflow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Platform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designing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orchestrating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chatbot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workflows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visually.</a:t>
            </a:r>
            <a:endParaRPr sz="2400">
              <a:latin typeface="Arial MT"/>
              <a:cs typeface="Arial MT"/>
            </a:endParaRPr>
          </a:p>
          <a:p>
            <a:pPr marL="12700" marR="5080" indent="332105">
              <a:lnSpc>
                <a:spcPct val="114599"/>
              </a:lnSpc>
              <a:buChar char="•"/>
              <a:tabLst>
                <a:tab pos="344805" algn="l"/>
                <a:tab pos="1111885" algn="l"/>
                <a:tab pos="2336800" algn="l"/>
                <a:tab pos="3392170" algn="l"/>
                <a:tab pos="3787140" algn="l"/>
                <a:tab pos="4470400" algn="l"/>
                <a:tab pos="5627370" algn="l"/>
                <a:tab pos="7107555" algn="l"/>
                <a:tab pos="9349105" algn="l"/>
                <a:tab pos="10998200" algn="l"/>
              </a:tabLst>
            </a:pPr>
            <a:r>
              <a:rPr dirty="0" sz="2400" spc="-25">
                <a:latin typeface="Arial MT"/>
                <a:cs typeface="Arial MT"/>
              </a:rPr>
              <a:t>IBM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10">
                <a:latin typeface="Arial MT"/>
                <a:cs typeface="Arial MT"/>
              </a:rPr>
              <a:t>Granite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10">
                <a:latin typeface="Arial MT"/>
                <a:cs typeface="Arial MT"/>
              </a:rPr>
              <a:t>Model</a:t>
            </a:r>
            <a:r>
              <a:rPr dirty="0" sz="2400">
                <a:latin typeface="Arial MT"/>
                <a:cs typeface="Arial MT"/>
              </a:rPr>
              <a:t>	–	</a:t>
            </a:r>
            <a:r>
              <a:rPr dirty="0" sz="2400" spc="-25">
                <a:latin typeface="Arial MT"/>
                <a:cs typeface="Arial MT"/>
              </a:rPr>
              <a:t>For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10">
                <a:latin typeface="Arial MT"/>
                <a:cs typeface="Arial MT"/>
              </a:rPr>
              <a:t>natural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10">
                <a:latin typeface="Arial MT"/>
                <a:cs typeface="Arial MT"/>
              </a:rPr>
              <a:t>language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10">
                <a:latin typeface="Arial MT"/>
                <a:cs typeface="Arial MT"/>
              </a:rPr>
              <a:t>understanding,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10">
                <a:latin typeface="Arial MT"/>
                <a:cs typeface="Arial MT"/>
              </a:rPr>
              <a:t>reasoning,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25">
                <a:latin typeface="Arial MT"/>
                <a:cs typeface="Arial MT"/>
              </a:rPr>
              <a:t>and </a:t>
            </a:r>
            <a:r>
              <a:rPr dirty="0" sz="2400">
                <a:latin typeface="Arial MT"/>
                <a:cs typeface="Arial MT"/>
              </a:rPr>
              <a:t>personalized</a:t>
            </a:r>
            <a:r>
              <a:rPr dirty="0" sz="2400" spc="-1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responses.</a:t>
            </a:r>
            <a:endParaRPr sz="2400">
              <a:latin typeface="Arial MT"/>
              <a:cs typeface="Arial MT"/>
            </a:endParaRPr>
          </a:p>
          <a:p>
            <a:pPr marL="203200" indent="-190500">
              <a:lnSpc>
                <a:spcPct val="100000"/>
              </a:lnSpc>
              <a:spcBef>
                <a:spcPts val="420"/>
              </a:spcBef>
              <a:buChar char="•"/>
              <a:tabLst>
                <a:tab pos="203200" algn="l"/>
              </a:tabLst>
            </a:pPr>
            <a:r>
              <a:rPr dirty="0" sz="2400">
                <a:latin typeface="Arial MT"/>
                <a:cs typeface="Arial MT"/>
              </a:rPr>
              <a:t>IBM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Cloud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Provides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reliable,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secure,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scalable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environment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deployment.</a:t>
            </a:r>
            <a:endParaRPr sz="2400">
              <a:latin typeface="Arial MT"/>
              <a:cs typeface="Arial MT"/>
            </a:endParaRPr>
          </a:p>
          <a:p>
            <a:pPr marL="203200" indent="-190500">
              <a:lnSpc>
                <a:spcPct val="100000"/>
              </a:lnSpc>
              <a:spcBef>
                <a:spcPts val="420"/>
              </a:spcBef>
              <a:buChar char="•"/>
              <a:tabLst>
                <a:tab pos="203200" algn="l"/>
              </a:tabLst>
            </a:pPr>
            <a:r>
              <a:rPr dirty="0" sz="2400">
                <a:latin typeface="Arial MT"/>
                <a:cs typeface="Arial MT"/>
              </a:rPr>
              <a:t>RAG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Fetches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real-</a:t>
            </a:r>
            <a:r>
              <a:rPr dirty="0" sz="2400">
                <a:latin typeface="Arial MT"/>
                <a:cs typeface="Arial MT"/>
              </a:rPr>
              <a:t>time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college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information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before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generating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responses.</a:t>
            </a:r>
            <a:endParaRPr sz="2400">
              <a:latin typeface="Arial MT"/>
              <a:cs typeface="Arial MT"/>
            </a:endParaRPr>
          </a:p>
          <a:p>
            <a:pPr marL="203200" indent="-190500">
              <a:lnSpc>
                <a:spcPct val="100000"/>
              </a:lnSpc>
              <a:spcBef>
                <a:spcPts val="420"/>
              </a:spcBef>
              <a:buChar char="•"/>
              <a:tabLst>
                <a:tab pos="203200" algn="l"/>
              </a:tabLst>
            </a:pPr>
            <a:r>
              <a:rPr dirty="0" sz="2400">
                <a:latin typeface="Arial MT"/>
                <a:cs typeface="Arial MT"/>
              </a:rPr>
              <a:t>IBM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watsonx.ai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AI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model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deployment,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embeddings,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governance.</a:t>
            </a:r>
            <a:endParaRPr sz="2400">
              <a:latin typeface="Arial MT"/>
              <a:cs typeface="Arial MT"/>
            </a:endParaRPr>
          </a:p>
          <a:p>
            <a:pPr marL="12700" marR="5080" indent="243204">
              <a:lnSpc>
                <a:spcPct val="114599"/>
              </a:lnSpc>
              <a:buChar char="•"/>
              <a:tabLst>
                <a:tab pos="255904" algn="l"/>
              </a:tabLst>
            </a:pPr>
            <a:r>
              <a:rPr dirty="0" sz="2400">
                <a:latin typeface="Arial MT"/>
                <a:cs typeface="Arial MT"/>
              </a:rPr>
              <a:t>Vector</a:t>
            </a:r>
            <a:r>
              <a:rPr dirty="0" sz="2400" spc="3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Database</a:t>
            </a:r>
            <a:r>
              <a:rPr dirty="0" sz="2400" spc="3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(FAISS/Chroma)</a:t>
            </a:r>
            <a:r>
              <a:rPr dirty="0" sz="2400" spc="3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3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3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storing</a:t>
            </a:r>
            <a:r>
              <a:rPr dirty="0" sz="2400" spc="3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3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retrieving</a:t>
            </a:r>
            <a:r>
              <a:rPr dirty="0" sz="2400" spc="37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admission-</a:t>
            </a:r>
            <a:r>
              <a:rPr dirty="0" sz="2400" spc="-10">
                <a:latin typeface="Arial MT"/>
                <a:cs typeface="Arial MT"/>
              </a:rPr>
              <a:t>related </a:t>
            </a:r>
            <a:r>
              <a:rPr dirty="0" sz="2400">
                <a:latin typeface="Arial MT"/>
                <a:cs typeface="Arial MT"/>
              </a:rPr>
              <a:t>information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efficiently.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5309" y="1608822"/>
            <a:ext cx="11629390" cy="358775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58750" indent="-14605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158750" algn="l"/>
              </a:tabLst>
            </a:pPr>
            <a:r>
              <a:rPr dirty="0" sz="1850" spc="-10">
                <a:latin typeface="Arial MT"/>
                <a:cs typeface="Arial MT"/>
              </a:rPr>
              <a:t>AI-</a:t>
            </a:r>
            <a:r>
              <a:rPr dirty="0" sz="1850">
                <a:latin typeface="Arial MT"/>
                <a:cs typeface="Arial MT"/>
              </a:rPr>
              <a:t>Powered</a:t>
            </a:r>
            <a:r>
              <a:rPr dirty="0" sz="1850" spc="-5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Admission</a:t>
            </a:r>
            <a:r>
              <a:rPr dirty="0" sz="1850" spc="-5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Assistance</a:t>
            </a:r>
            <a:r>
              <a:rPr dirty="0" sz="1850" spc="-5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–</a:t>
            </a:r>
            <a:r>
              <a:rPr dirty="0" sz="1850" spc="-5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Provides</a:t>
            </a:r>
            <a:r>
              <a:rPr dirty="0" sz="1850" spc="-5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instant</a:t>
            </a:r>
            <a:r>
              <a:rPr dirty="0" sz="1850" spc="-5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and</a:t>
            </a:r>
            <a:r>
              <a:rPr dirty="0" sz="1850" spc="-5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intelligent</a:t>
            </a:r>
            <a:r>
              <a:rPr dirty="0" sz="1850" spc="-5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responses</a:t>
            </a:r>
            <a:r>
              <a:rPr dirty="0" sz="1850" spc="-5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to</a:t>
            </a:r>
            <a:r>
              <a:rPr dirty="0" sz="1850" spc="-5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student</a:t>
            </a:r>
            <a:r>
              <a:rPr dirty="0" sz="1850" spc="-5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admission</a:t>
            </a:r>
            <a:r>
              <a:rPr dirty="0" sz="1850" spc="-55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queries.</a:t>
            </a:r>
            <a:endParaRPr sz="1850">
              <a:latin typeface="Arial MT"/>
              <a:cs typeface="Arial MT"/>
            </a:endParaRPr>
          </a:p>
          <a:p>
            <a:pPr marL="12700" marR="5080" indent="186690">
              <a:lnSpc>
                <a:spcPct val="114900"/>
              </a:lnSpc>
              <a:buChar char="•"/>
              <a:tabLst>
                <a:tab pos="199390" algn="l"/>
              </a:tabLst>
            </a:pPr>
            <a:r>
              <a:rPr dirty="0" sz="1850" spc="-10">
                <a:latin typeface="Arial MT"/>
                <a:cs typeface="Arial MT"/>
              </a:rPr>
              <a:t>Real-</a:t>
            </a:r>
            <a:r>
              <a:rPr dirty="0" sz="1850">
                <a:latin typeface="Arial MT"/>
                <a:cs typeface="Arial MT"/>
              </a:rPr>
              <a:t>Time</a:t>
            </a:r>
            <a:r>
              <a:rPr dirty="0" sz="1850" spc="27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Information</a:t>
            </a:r>
            <a:r>
              <a:rPr dirty="0" sz="1850" spc="27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Retrieval</a:t>
            </a:r>
            <a:r>
              <a:rPr dirty="0" sz="1850" spc="27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–</a:t>
            </a:r>
            <a:r>
              <a:rPr dirty="0" sz="1850" spc="27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Uses</a:t>
            </a:r>
            <a:r>
              <a:rPr dirty="0" sz="1850" spc="27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RAG</a:t>
            </a:r>
            <a:r>
              <a:rPr dirty="0" sz="1850" spc="27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to</a:t>
            </a:r>
            <a:r>
              <a:rPr dirty="0" sz="1850" spc="27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fetch</a:t>
            </a:r>
            <a:r>
              <a:rPr dirty="0" sz="1850" spc="27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accurate</a:t>
            </a:r>
            <a:r>
              <a:rPr dirty="0" sz="1850" spc="27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details</a:t>
            </a:r>
            <a:r>
              <a:rPr dirty="0" sz="1850" spc="27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about</a:t>
            </a:r>
            <a:r>
              <a:rPr dirty="0" sz="1850" spc="27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courses,</a:t>
            </a:r>
            <a:r>
              <a:rPr dirty="0" sz="1850" spc="27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fees,</a:t>
            </a:r>
            <a:r>
              <a:rPr dirty="0" sz="1850" spc="27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eligibility,</a:t>
            </a:r>
            <a:r>
              <a:rPr dirty="0" sz="1850" spc="270">
                <a:latin typeface="Arial MT"/>
                <a:cs typeface="Arial MT"/>
              </a:rPr>
              <a:t> </a:t>
            </a:r>
            <a:r>
              <a:rPr dirty="0" sz="1850" spc="-25">
                <a:latin typeface="Arial MT"/>
                <a:cs typeface="Arial MT"/>
              </a:rPr>
              <a:t>and </a:t>
            </a:r>
            <a:r>
              <a:rPr dirty="0" sz="1850" spc="-10">
                <a:latin typeface="Arial MT"/>
                <a:cs typeface="Arial MT"/>
              </a:rPr>
              <a:t>scholarships.</a:t>
            </a:r>
            <a:endParaRPr sz="1850">
              <a:latin typeface="Arial MT"/>
              <a:cs typeface="Arial MT"/>
            </a:endParaRPr>
          </a:p>
          <a:p>
            <a:pPr marL="12700" marR="5080" indent="149225">
              <a:lnSpc>
                <a:spcPct val="114900"/>
              </a:lnSpc>
              <a:buChar char="•"/>
              <a:tabLst>
                <a:tab pos="161925" algn="l"/>
              </a:tabLst>
            </a:pPr>
            <a:r>
              <a:rPr dirty="0" sz="1850">
                <a:latin typeface="Arial MT"/>
                <a:cs typeface="Arial MT"/>
              </a:rPr>
              <a:t>Personalized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Student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Guidance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–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Recommends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suitable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courses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and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admission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information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based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on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student interests.</a:t>
            </a:r>
            <a:endParaRPr sz="1850">
              <a:latin typeface="Arial MT"/>
              <a:cs typeface="Arial MT"/>
            </a:endParaRPr>
          </a:p>
          <a:p>
            <a:pPr marL="158750" indent="-146050">
              <a:lnSpc>
                <a:spcPct val="100000"/>
              </a:lnSpc>
              <a:spcBef>
                <a:spcPts val="330"/>
              </a:spcBef>
              <a:buChar char="•"/>
              <a:tabLst>
                <a:tab pos="158750" algn="l"/>
              </a:tabLst>
            </a:pPr>
            <a:r>
              <a:rPr dirty="0" sz="1850">
                <a:latin typeface="Arial MT"/>
                <a:cs typeface="Arial MT"/>
              </a:rPr>
              <a:t>24/7</a:t>
            </a:r>
            <a:r>
              <a:rPr dirty="0" sz="1850" spc="-5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Availability</a:t>
            </a:r>
            <a:r>
              <a:rPr dirty="0" sz="1850" spc="-4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–</a:t>
            </a:r>
            <a:r>
              <a:rPr dirty="0" sz="1850" spc="-5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Ensures</a:t>
            </a:r>
            <a:r>
              <a:rPr dirty="0" sz="1850" spc="-4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continuous</a:t>
            </a:r>
            <a:r>
              <a:rPr dirty="0" sz="1850" spc="-4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support</a:t>
            </a:r>
            <a:r>
              <a:rPr dirty="0" sz="1850" spc="-5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without</a:t>
            </a:r>
            <a:r>
              <a:rPr dirty="0" sz="1850" spc="-4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requiring</a:t>
            </a:r>
            <a:r>
              <a:rPr dirty="0" sz="1850" spc="-4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manual</a:t>
            </a:r>
            <a:r>
              <a:rPr dirty="0" sz="1850" spc="-50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intervention.</a:t>
            </a:r>
            <a:endParaRPr sz="1850">
              <a:latin typeface="Arial MT"/>
              <a:cs typeface="Arial MT"/>
            </a:endParaRPr>
          </a:p>
          <a:p>
            <a:pPr marL="12700" marR="5080" indent="196850">
              <a:lnSpc>
                <a:spcPct val="114900"/>
              </a:lnSpc>
              <a:buChar char="•"/>
              <a:tabLst>
                <a:tab pos="209550" algn="l"/>
              </a:tabLst>
            </a:pPr>
            <a:r>
              <a:rPr dirty="0" sz="1850">
                <a:latin typeface="Arial MT"/>
                <a:cs typeface="Arial MT"/>
              </a:rPr>
              <a:t>IBM</a:t>
            </a:r>
            <a:r>
              <a:rPr dirty="0" sz="1850" spc="34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watsonx</a:t>
            </a:r>
            <a:r>
              <a:rPr dirty="0" sz="1850" spc="34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Assistant</a:t>
            </a:r>
            <a:r>
              <a:rPr dirty="0" sz="1850" spc="34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Integration</a:t>
            </a:r>
            <a:r>
              <a:rPr dirty="0" sz="1850" spc="34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–</a:t>
            </a:r>
            <a:r>
              <a:rPr dirty="0" sz="1850" spc="34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Enhances</a:t>
            </a:r>
            <a:r>
              <a:rPr dirty="0" sz="1850" spc="34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conversational</a:t>
            </a:r>
            <a:r>
              <a:rPr dirty="0" sz="1850" spc="34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capabilities</a:t>
            </a:r>
            <a:r>
              <a:rPr dirty="0" sz="1850" spc="34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with</a:t>
            </a:r>
            <a:r>
              <a:rPr dirty="0" sz="1850" spc="34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advanced</a:t>
            </a:r>
            <a:r>
              <a:rPr dirty="0" sz="1850" spc="34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NLP</a:t>
            </a:r>
            <a:r>
              <a:rPr dirty="0" sz="1850" spc="34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and</a:t>
            </a:r>
            <a:r>
              <a:rPr dirty="0" sz="1850" spc="340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intent recognition.</a:t>
            </a:r>
            <a:endParaRPr sz="1850">
              <a:latin typeface="Arial MT"/>
              <a:cs typeface="Arial MT"/>
            </a:endParaRPr>
          </a:p>
          <a:p>
            <a:pPr marL="158750" indent="-146050">
              <a:lnSpc>
                <a:spcPct val="100000"/>
              </a:lnSpc>
              <a:spcBef>
                <a:spcPts val="325"/>
              </a:spcBef>
              <a:buChar char="•"/>
              <a:tabLst>
                <a:tab pos="158750" algn="l"/>
              </a:tabLst>
            </a:pPr>
            <a:r>
              <a:rPr dirty="0" sz="1850">
                <a:latin typeface="Arial MT"/>
                <a:cs typeface="Arial MT"/>
              </a:rPr>
              <a:t>Scalable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and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Secure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Solution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–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Built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on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IBM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Cloud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for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reliable,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secure,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and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enterprise-</a:t>
            </a:r>
            <a:r>
              <a:rPr dirty="0" sz="1850">
                <a:latin typeface="Arial MT"/>
                <a:cs typeface="Arial MT"/>
              </a:rPr>
              <a:t>grade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performance.</a:t>
            </a:r>
            <a:endParaRPr sz="1850">
              <a:latin typeface="Arial MT"/>
              <a:cs typeface="Arial MT"/>
            </a:endParaRPr>
          </a:p>
          <a:p>
            <a:pPr marL="12700" marR="5080" indent="171450">
              <a:lnSpc>
                <a:spcPct val="114900"/>
              </a:lnSpc>
              <a:buChar char="•"/>
              <a:tabLst>
                <a:tab pos="184150" algn="l"/>
              </a:tabLst>
            </a:pPr>
            <a:r>
              <a:rPr dirty="0" sz="1850">
                <a:latin typeface="Arial MT"/>
                <a:cs typeface="Arial MT"/>
              </a:rPr>
              <a:t>Improved</a:t>
            </a:r>
            <a:r>
              <a:rPr dirty="0" sz="1850" spc="14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Admission</a:t>
            </a:r>
            <a:r>
              <a:rPr dirty="0" sz="1850" spc="14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Experience</a:t>
            </a:r>
            <a:r>
              <a:rPr dirty="0" sz="1850" spc="14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–</a:t>
            </a:r>
            <a:r>
              <a:rPr dirty="0" sz="1850" spc="14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Simplifies</a:t>
            </a:r>
            <a:r>
              <a:rPr dirty="0" sz="1850" spc="14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the</a:t>
            </a:r>
            <a:r>
              <a:rPr dirty="0" sz="1850" spc="14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admission</a:t>
            </a:r>
            <a:r>
              <a:rPr dirty="0" sz="1850" spc="14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process</a:t>
            </a:r>
            <a:r>
              <a:rPr dirty="0" sz="1850" spc="14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by</a:t>
            </a:r>
            <a:r>
              <a:rPr dirty="0" sz="1850" spc="14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providing</a:t>
            </a:r>
            <a:r>
              <a:rPr dirty="0" sz="1850" spc="14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quick,</a:t>
            </a:r>
            <a:r>
              <a:rPr dirty="0" sz="1850" spc="14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accurate,</a:t>
            </a:r>
            <a:r>
              <a:rPr dirty="0" sz="1850" spc="14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and</a:t>
            </a:r>
            <a:r>
              <a:rPr dirty="0" sz="1850" spc="145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user-</a:t>
            </a:r>
            <a:r>
              <a:rPr dirty="0" sz="1850">
                <a:latin typeface="Arial MT"/>
                <a:cs typeface="Arial MT"/>
              </a:rPr>
              <a:t>friendly</a:t>
            </a:r>
            <a:r>
              <a:rPr dirty="0" sz="1850" spc="-45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assistance.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0216" rIns="0" bIns="0" rtlCol="0" vert="horz">
            <a:spAutoFit/>
          </a:bodyPr>
          <a:lstStyle/>
          <a:p>
            <a:pPr marL="62230">
              <a:lnSpc>
                <a:spcPct val="100000"/>
              </a:lnSpc>
              <a:spcBef>
                <a:spcPts val="100"/>
              </a:spcBef>
            </a:pPr>
            <a:r>
              <a:rPr dirty="0" sz="3000" spc="-135" b="0">
                <a:latin typeface="Arial Black"/>
                <a:cs typeface="Arial Black"/>
              </a:rPr>
              <a:t>Novelty</a:t>
            </a:r>
            <a:r>
              <a:rPr dirty="0" sz="3000" spc="-265" b="0">
                <a:latin typeface="Arial Black"/>
                <a:cs typeface="Arial Black"/>
              </a:rPr>
              <a:t> </a:t>
            </a:r>
            <a:r>
              <a:rPr dirty="0" sz="3000" spc="-160" b="0">
                <a:latin typeface="Arial Black"/>
                <a:cs typeface="Arial Black"/>
              </a:rPr>
              <a:t>and</a:t>
            </a:r>
            <a:r>
              <a:rPr dirty="0" sz="3000" spc="-260" b="0">
                <a:latin typeface="Arial Black"/>
                <a:cs typeface="Arial Black"/>
              </a:rPr>
              <a:t> </a:t>
            </a:r>
            <a:r>
              <a:rPr dirty="0" sz="3000" spc="-195" b="0">
                <a:latin typeface="Arial Black"/>
                <a:cs typeface="Arial Black"/>
              </a:rPr>
              <a:t>Uniqueness</a:t>
            </a:r>
            <a:endParaRPr sz="30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3914" rIns="0" bIns="0" rtlCol="0" vert="horz">
            <a:spAutoFit/>
          </a:bodyPr>
          <a:lstStyle/>
          <a:p>
            <a:pPr marL="693420">
              <a:lnSpc>
                <a:spcPct val="100000"/>
              </a:lnSpc>
              <a:spcBef>
                <a:spcPts val="100"/>
              </a:spcBef>
            </a:pPr>
            <a:r>
              <a:rPr dirty="0"/>
              <a:t>Git</a:t>
            </a:r>
            <a:r>
              <a:rPr dirty="0" spc="-35"/>
              <a:t> </a:t>
            </a:r>
            <a:r>
              <a:rPr dirty="0"/>
              <a:t>Hub</a:t>
            </a:r>
            <a:r>
              <a:rPr dirty="0" spc="-25"/>
              <a:t> </a:t>
            </a:r>
            <a:r>
              <a:rPr dirty="0" spc="-20"/>
              <a:t>Link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6814" y="4487316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A3440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6814" y="5524016"/>
            <a:ext cx="105410" cy="311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50">
                <a:solidFill>
                  <a:srgbClr val="2A3440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9713" y="1681876"/>
            <a:ext cx="8384540" cy="844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61670" marR="5080" indent="-649605">
              <a:lnSpc>
                <a:spcPct val="116799"/>
              </a:lnSpc>
              <a:spcBef>
                <a:spcPts val="95"/>
              </a:spcBef>
            </a:pPr>
            <a:r>
              <a:rPr dirty="0" sz="2300" spc="-105">
                <a:latin typeface="Arial Black"/>
                <a:cs typeface="Arial Black"/>
                <a:hlinkClick r:id="rId2"/>
              </a:rPr>
              <a:t>https://github.com/aditya-</a:t>
            </a:r>
            <a:r>
              <a:rPr dirty="0" sz="2300" spc="-110">
                <a:latin typeface="Arial Black"/>
                <a:cs typeface="Arial Black"/>
                <a:hlinkClick r:id="rId2"/>
              </a:rPr>
              <a:t>vantharam/Al-</a:t>
            </a:r>
            <a:r>
              <a:rPr dirty="0" sz="2300" spc="-135">
                <a:latin typeface="Arial Black"/>
                <a:cs typeface="Arial Black"/>
                <a:hlinkClick r:id="rId2"/>
              </a:rPr>
              <a:t>Powered-</a:t>
            </a:r>
            <a:r>
              <a:rPr dirty="0" sz="2300" spc="-75">
                <a:latin typeface="Arial Black"/>
                <a:cs typeface="Arial Black"/>
                <a:hlinkClick r:id="rId2"/>
              </a:rPr>
              <a:t>College-</a:t>
            </a:r>
            <a:r>
              <a:rPr dirty="0" sz="2300" spc="-130">
                <a:latin typeface="Arial Black"/>
                <a:cs typeface="Arial Black"/>
              </a:rPr>
              <a:t>Admission-</a:t>
            </a:r>
            <a:r>
              <a:rPr dirty="0" sz="2300" spc="-135">
                <a:latin typeface="Arial Black"/>
                <a:cs typeface="Arial Black"/>
              </a:rPr>
              <a:t>Chatbot-</a:t>
            </a:r>
            <a:r>
              <a:rPr dirty="0" sz="2300" spc="-140">
                <a:latin typeface="Arial Black"/>
                <a:cs typeface="Arial Black"/>
              </a:rPr>
              <a:t>Using-</a:t>
            </a:r>
            <a:r>
              <a:rPr dirty="0" sz="2300" spc="-90">
                <a:latin typeface="Arial Black"/>
                <a:cs typeface="Arial Black"/>
              </a:rPr>
              <a:t>IBM-</a:t>
            </a:r>
            <a:r>
              <a:rPr dirty="0" sz="2300" spc="-175">
                <a:latin typeface="Arial Black"/>
                <a:cs typeface="Arial Black"/>
              </a:rPr>
              <a:t>watsonx-</a:t>
            </a:r>
            <a:r>
              <a:rPr dirty="0" sz="2300" spc="-35">
                <a:latin typeface="Arial Black"/>
                <a:cs typeface="Arial Black"/>
              </a:rPr>
              <a:t>Assistant</a:t>
            </a:r>
            <a:endParaRPr sz="23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8469" rIns="0" bIns="0" rtlCol="0" vert="horz">
            <a:spAutoFit/>
          </a:bodyPr>
          <a:lstStyle/>
          <a:p>
            <a:pPr marL="16002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dirty="0" spc="-65"/>
              <a:t> </a:t>
            </a:r>
            <a:r>
              <a:rPr dirty="0" spc="-2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099" y="1490495"/>
            <a:ext cx="10998200" cy="379730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266700" algn="l"/>
              </a:tabLst>
            </a:pPr>
            <a:r>
              <a:rPr dirty="0" sz="1800">
                <a:latin typeface="Arial MT"/>
                <a:cs typeface="Arial MT"/>
              </a:rPr>
              <a:t>Integration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College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Management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Systems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–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14599"/>
              </a:lnSpc>
            </a:pP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chatbot can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 integrated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 college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databases and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admission portals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 provide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real-</a:t>
            </a:r>
            <a:r>
              <a:rPr dirty="0" sz="1800">
                <a:latin typeface="Arial MT"/>
                <a:cs typeface="Arial MT"/>
              </a:rPr>
              <a:t>time </a:t>
            </a:r>
            <a:r>
              <a:rPr dirty="0" sz="1800" spc="-10">
                <a:latin typeface="Arial MT"/>
                <a:cs typeface="Arial MT"/>
              </a:rPr>
              <a:t>information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courses,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seat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availability,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application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status,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admission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deadlines.</a:t>
            </a:r>
            <a:endParaRPr sz="1800">
              <a:latin typeface="Arial MT"/>
              <a:cs typeface="Arial MT"/>
            </a:endParaRPr>
          </a:p>
          <a:p>
            <a:pPr marL="266700" indent="-254000">
              <a:lnSpc>
                <a:spcPct val="100000"/>
              </a:lnSpc>
              <a:spcBef>
                <a:spcPts val="315"/>
              </a:spcBef>
              <a:buAutoNum type="arabicPeriod" startAt="2"/>
              <a:tabLst>
                <a:tab pos="266700" algn="l"/>
              </a:tabLst>
            </a:pPr>
            <a:r>
              <a:rPr dirty="0" sz="1800" spc="-10">
                <a:latin typeface="Arial MT"/>
                <a:cs typeface="Arial MT"/>
              </a:rPr>
              <a:t>AI-</a:t>
            </a:r>
            <a:r>
              <a:rPr dirty="0" sz="1800">
                <a:latin typeface="Arial MT"/>
                <a:cs typeface="Arial MT"/>
              </a:rPr>
              <a:t>Powered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Voice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Assistant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&amp;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Multilingual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Support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–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14599"/>
              </a:lnSpc>
            </a:pPr>
            <a:r>
              <a:rPr dirty="0" sz="1800">
                <a:latin typeface="Arial MT"/>
                <a:cs typeface="Arial MT"/>
              </a:rPr>
              <a:t>Future</a:t>
            </a:r>
            <a:r>
              <a:rPr dirty="0" sz="1800" spc="48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versions</a:t>
            </a:r>
            <a:r>
              <a:rPr dirty="0" sz="1800" spc="4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can  support</a:t>
            </a:r>
            <a:r>
              <a:rPr dirty="0" sz="1800" spc="49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voice-</a:t>
            </a:r>
            <a:r>
              <a:rPr dirty="0" sz="1800">
                <a:latin typeface="Arial MT"/>
                <a:cs typeface="Arial MT"/>
              </a:rPr>
              <a:t>based</a:t>
            </a:r>
            <a:r>
              <a:rPr dirty="0" sz="1800" spc="4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interactions  and</a:t>
            </a:r>
            <a:r>
              <a:rPr dirty="0" sz="1800" spc="4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multiple</a:t>
            </a:r>
            <a:r>
              <a:rPr dirty="0" sz="1800" spc="4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languages,  enabling</a:t>
            </a:r>
            <a:r>
              <a:rPr dirty="0" sz="1800" spc="49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students</a:t>
            </a:r>
            <a:r>
              <a:rPr dirty="0" sz="1800" spc="50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from </a:t>
            </a:r>
            <a:r>
              <a:rPr dirty="0" sz="1800">
                <a:latin typeface="Arial MT"/>
                <a:cs typeface="Arial MT"/>
              </a:rPr>
              <a:t>diverse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backgrounds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access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admission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information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more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easily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effectively.</a:t>
            </a:r>
            <a:endParaRPr sz="1800">
              <a:latin typeface="Arial MT"/>
              <a:cs typeface="Arial MT"/>
            </a:endParaRPr>
          </a:p>
          <a:p>
            <a:pPr marL="266700" indent="-254000">
              <a:lnSpc>
                <a:spcPct val="100000"/>
              </a:lnSpc>
              <a:spcBef>
                <a:spcPts val="315"/>
              </a:spcBef>
              <a:buAutoNum type="arabicPeriod" startAt="3"/>
              <a:tabLst>
                <a:tab pos="266700" algn="l"/>
              </a:tabLst>
            </a:pPr>
            <a:r>
              <a:rPr dirty="0" sz="1800">
                <a:latin typeface="Arial MT"/>
                <a:cs typeface="Arial MT"/>
              </a:rPr>
              <a:t>Personalized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Course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Recommendations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–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14599"/>
              </a:lnSpc>
            </a:pPr>
            <a:r>
              <a:rPr dirty="0" sz="1800">
                <a:latin typeface="Arial MT"/>
                <a:cs typeface="Arial MT"/>
              </a:rPr>
              <a:t>Using</a:t>
            </a:r>
            <a:r>
              <a:rPr dirty="0" sz="1800" spc="3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AI</a:t>
            </a:r>
            <a:r>
              <a:rPr dirty="0" sz="1800" spc="3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3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student</a:t>
            </a:r>
            <a:r>
              <a:rPr dirty="0" sz="1800" spc="3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preferences,</a:t>
            </a:r>
            <a:r>
              <a:rPr dirty="0" sz="1800" spc="3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3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chatbot</a:t>
            </a:r>
            <a:r>
              <a:rPr dirty="0" sz="1800" spc="3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can</a:t>
            </a:r>
            <a:r>
              <a:rPr dirty="0" sz="1800" spc="3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recommend</a:t>
            </a:r>
            <a:r>
              <a:rPr dirty="0" sz="1800" spc="3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suitable</a:t>
            </a:r>
            <a:r>
              <a:rPr dirty="0" sz="1800" spc="3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courses,</a:t>
            </a:r>
            <a:r>
              <a:rPr dirty="0" sz="1800" spc="3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programs,</a:t>
            </a:r>
            <a:r>
              <a:rPr dirty="0" sz="1800" spc="3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3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career </a:t>
            </a:r>
            <a:r>
              <a:rPr dirty="0" sz="1800">
                <a:latin typeface="Arial MT"/>
                <a:cs typeface="Arial MT"/>
              </a:rPr>
              <a:t>paths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based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academic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interests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eligibility.</a:t>
            </a:r>
            <a:endParaRPr sz="1800">
              <a:latin typeface="Arial MT"/>
              <a:cs typeface="Arial MT"/>
            </a:endParaRPr>
          </a:p>
          <a:p>
            <a:pPr marL="266700" indent="-254000">
              <a:lnSpc>
                <a:spcPct val="100000"/>
              </a:lnSpc>
              <a:spcBef>
                <a:spcPts val="315"/>
              </a:spcBef>
              <a:buAutoNum type="arabicPeriod" startAt="4"/>
              <a:tabLst>
                <a:tab pos="266700" algn="l"/>
              </a:tabLst>
            </a:pPr>
            <a:r>
              <a:rPr dirty="0" sz="1800">
                <a:latin typeface="Arial MT"/>
                <a:cs typeface="Arial MT"/>
              </a:rPr>
              <a:t>Automated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Application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Assistance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–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14599"/>
              </a:lnSpc>
            </a:pP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2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chatbot</a:t>
            </a:r>
            <a:r>
              <a:rPr dirty="0" sz="1800" spc="2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can</a:t>
            </a:r>
            <a:r>
              <a:rPr dirty="0" sz="1800" spc="20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guide</a:t>
            </a:r>
            <a:r>
              <a:rPr dirty="0" sz="1800" spc="2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students</a:t>
            </a:r>
            <a:r>
              <a:rPr dirty="0" sz="1800" spc="20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through</a:t>
            </a:r>
            <a:r>
              <a:rPr dirty="0" sz="1800" spc="2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20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admission</a:t>
            </a:r>
            <a:r>
              <a:rPr dirty="0" sz="1800" spc="2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process,</a:t>
            </a:r>
            <a:r>
              <a:rPr dirty="0" sz="1800" spc="2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helping</a:t>
            </a:r>
            <a:r>
              <a:rPr dirty="0" sz="1800" spc="20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them</a:t>
            </a:r>
            <a:r>
              <a:rPr dirty="0" sz="1800" spc="2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fill</a:t>
            </a:r>
            <a:r>
              <a:rPr dirty="0" sz="1800" spc="20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out</a:t>
            </a:r>
            <a:r>
              <a:rPr dirty="0" sz="1800" spc="2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applications,</a:t>
            </a:r>
            <a:r>
              <a:rPr dirty="0" sz="1800" spc="204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upload </a:t>
            </a:r>
            <a:r>
              <a:rPr dirty="0" sz="1800">
                <a:latin typeface="Arial MT"/>
                <a:cs typeface="Arial MT"/>
              </a:rPr>
              <a:t>documents,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track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their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admission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status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real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time.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90750"/>
            <a:ext cx="12191999" cy="24764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ADITYA VANTHARAM</dc:creator>
  <cp:keywords>DAHMbUf0PLM,BAHCtLo7-iI,0</cp:keywords>
  <dc:title>DOC-20260611-WA0063..pdf</dc:title>
  <dcterms:created xsi:type="dcterms:W3CDTF">2026-06-13T07:19:04Z</dcterms:created>
  <dcterms:modified xsi:type="dcterms:W3CDTF">2026-06-13T07:19:04Z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2026-06-13T00:00:00Z</vt:filetime>
  </property>
  <property fmtid="{D5CDD505-2E9C-101B-9397-08002B2CF9AE}" pid="4" name="Creator">
    <vt:lpwstr>Canva</vt:lpwstr>
  </property>
  <property fmtid="{D5CDD505-2E9C-101B-9397-08002B2CF9AE}" pid="5" name="LastSaved">
    <vt:filetime>2026-06-13T00:00:00Z</vt:filetime>
  </property>
  <property fmtid="{D5CDD505-2E9C-101B-9397-08002B2CF9AE}" pid="6" name="Producer">
    <vt:lpwstr>Canva</vt:lpwstr>
  </property>
</Properties>
</file>